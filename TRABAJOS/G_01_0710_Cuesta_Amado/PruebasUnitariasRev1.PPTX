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5" r:id="rId1"/>
  </p:sldMasterIdLst>
  <p:sldIdLst>
    <p:sldId id="269" r:id="rId2"/>
    <p:sldId id="271" r:id="rId3"/>
    <p:sldId id="275" r:id="rId4"/>
    <p:sldId id="276" r:id="rId5"/>
    <p:sldId id="277" r:id="rId6"/>
    <p:sldId id="278" r:id="rId7"/>
    <p:sldId id="291" r:id="rId8"/>
    <p:sldId id="292" r:id="rId9"/>
    <p:sldId id="293" r:id="rId10"/>
    <p:sldId id="273" r:id="rId11"/>
    <p:sldId id="281" r:id="rId12"/>
    <p:sldId id="280" r:id="rId13"/>
    <p:sldId id="283" r:id="rId14"/>
    <p:sldId id="284" r:id="rId15"/>
    <p:sldId id="285" r:id="rId16"/>
    <p:sldId id="286" r:id="rId17"/>
    <p:sldId id="272" r:id="rId18"/>
    <p:sldId id="282" r:id="rId19"/>
    <p:sldId id="287" r:id="rId20"/>
    <p:sldId id="289" r:id="rId21"/>
    <p:sldId id="258" r:id="rId22"/>
    <p:sldId id="290" r:id="rId23"/>
    <p:sldId id="266" r:id="rId24"/>
    <p:sldId id="267" r:id="rId25"/>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92" d="100"/>
          <a:sy n="92" d="100"/>
        </p:scale>
        <p:origin x="49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B5BE90A3-8FC3-4BA7-AF50-6655241C0473}" type="datetimeFigureOut">
              <a:rPr lang="es-PE" smtClean="0"/>
              <a:t>22/02/2017</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D16053D-87CD-4146-9C22-C1F6B430DA1B}" type="slidenum">
              <a:rPr lang="es-PE" smtClean="0"/>
              <a:t>‹Nº›</a:t>
            </a:fld>
            <a:endParaRPr lang="es-PE"/>
          </a:p>
        </p:txBody>
      </p:sp>
    </p:spTree>
    <p:extLst>
      <p:ext uri="{BB962C8B-B14F-4D97-AF65-F5344CB8AC3E}">
        <p14:creationId xmlns:p14="http://schemas.microsoft.com/office/powerpoint/2010/main" val="1142020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5BE90A3-8FC3-4BA7-AF50-6655241C0473}" type="datetimeFigureOut">
              <a:rPr lang="es-PE" smtClean="0"/>
              <a:t>22/02/2017</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D16053D-87CD-4146-9C22-C1F6B430DA1B}" type="slidenum">
              <a:rPr lang="es-PE" smtClean="0"/>
              <a:t>‹Nº›</a:t>
            </a:fld>
            <a:endParaRPr lang="es-PE"/>
          </a:p>
        </p:txBody>
      </p:sp>
    </p:spTree>
    <p:extLst>
      <p:ext uri="{BB962C8B-B14F-4D97-AF65-F5344CB8AC3E}">
        <p14:creationId xmlns:p14="http://schemas.microsoft.com/office/powerpoint/2010/main" val="3451041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5BE90A3-8FC3-4BA7-AF50-6655241C0473}" type="datetimeFigureOut">
              <a:rPr lang="es-PE" smtClean="0"/>
              <a:t>22/02/2017</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D16053D-87CD-4146-9C22-C1F6B430DA1B}" type="slidenum">
              <a:rPr lang="es-PE" smtClean="0"/>
              <a:t>‹Nº›</a:t>
            </a:fld>
            <a:endParaRPr lang="es-PE"/>
          </a:p>
        </p:txBody>
      </p:sp>
    </p:spTree>
    <p:extLst>
      <p:ext uri="{BB962C8B-B14F-4D97-AF65-F5344CB8AC3E}">
        <p14:creationId xmlns:p14="http://schemas.microsoft.com/office/powerpoint/2010/main" val="428555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B5BE90A3-8FC3-4BA7-AF50-6655241C0473}" type="datetimeFigureOut">
              <a:rPr lang="es-PE" smtClean="0"/>
              <a:t>22/02/2017</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0D16053D-87CD-4146-9C22-C1F6B430DA1B}" type="slidenum">
              <a:rPr lang="es-PE" smtClean="0"/>
              <a:t>‹Nº›</a:t>
            </a:fld>
            <a:endParaRPr lang="es-PE"/>
          </a:p>
        </p:txBody>
      </p:sp>
    </p:spTree>
    <p:extLst>
      <p:ext uri="{BB962C8B-B14F-4D97-AF65-F5344CB8AC3E}">
        <p14:creationId xmlns:p14="http://schemas.microsoft.com/office/powerpoint/2010/main" val="1137318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5BE90A3-8FC3-4BA7-AF50-6655241C0473}" type="datetimeFigureOut">
              <a:rPr lang="es-PE" smtClean="0"/>
              <a:t>22/02/2017</a:t>
            </a:fld>
            <a:endParaRPr lang="es-PE"/>
          </a:p>
        </p:txBody>
      </p:sp>
      <p:sp>
        <p:nvSpPr>
          <p:cNvPr id="8" name="Footer Placeholder 7"/>
          <p:cNvSpPr>
            <a:spLocks noGrp="1"/>
          </p:cNvSpPr>
          <p:nvPr>
            <p:ph type="ftr" sz="quarter" idx="11"/>
          </p:nvPr>
        </p:nvSpPr>
        <p:spPr/>
        <p:txBody>
          <a:bodyPr/>
          <a:lstStyle/>
          <a:p>
            <a:endParaRPr lang="es-PE"/>
          </a:p>
        </p:txBody>
      </p:sp>
      <p:sp>
        <p:nvSpPr>
          <p:cNvPr id="9" name="Slide Number Placeholder 8"/>
          <p:cNvSpPr>
            <a:spLocks noGrp="1"/>
          </p:cNvSpPr>
          <p:nvPr>
            <p:ph type="sldNum" sz="quarter" idx="12"/>
          </p:nvPr>
        </p:nvSpPr>
        <p:spPr/>
        <p:txBody>
          <a:bodyPr/>
          <a:lstStyle/>
          <a:p>
            <a:fld id="{0D16053D-87CD-4146-9C22-C1F6B430DA1B}" type="slidenum">
              <a:rPr lang="es-PE" smtClean="0"/>
              <a:t>‹Nº›</a:t>
            </a:fld>
            <a:endParaRPr lang="es-PE"/>
          </a:p>
        </p:txBody>
      </p:sp>
    </p:spTree>
    <p:extLst>
      <p:ext uri="{BB962C8B-B14F-4D97-AF65-F5344CB8AC3E}">
        <p14:creationId xmlns:p14="http://schemas.microsoft.com/office/powerpoint/2010/main" val="677938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5BE90A3-8FC3-4BA7-AF50-6655241C0473}" type="datetimeFigureOut">
              <a:rPr lang="es-PE" smtClean="0"/>
              <a:t>22/02/2017</a:t>
            </a:fld>
            <a:endParaRPr lang="es-PE"/>
          </a:p>
        </p:txBody>
      </p:sp>
      <p:sp>
        <p:nvSpPr>
          <p:cNvPr id="4" name="Footer Placeholder 3"/>
          <p:cNvSpPr>
            <a:spLocks noGrp="1"/>
          </p:cNvSpPr>
          <p:nvPr>
            <p:ph type="ftr" sz="quarter" idx="11"/>
          </p:nvPr>
        </p:nvSpPr>
        <p:spPr/>
        <p:txBody>
          <a:bodyPr/>
          <a:lstStyle/>
          <a:p>
            <a:endParaRPr lang="es-PE"/>
          </a:p>
        </p:txBody>
      </p:sp>
      <p:sp>
        <p:nvSpPr>
          <p:cNvPr id="5" name="Slide Number Placeholder 4"/>
          <p:cNvSpPr>
            <a:spLocks noGrp="1"/>
          </p:cNvSpPr>
          <p:nvPr>
            <p:ph type="sldNum" sz="quarter" idx="12"/>
          </p:nvPr>
        </p:nvSpPr>
        <p:spPr/>
        <p:txBody>
          <a:bodyPr/>
          <a:lstStyle/>
          <a:p>
            <a:fld id="{0D16053D-87CD-4146-9C22-C1F6B430DA1B}" type="slidenum">
              <a:rPr lang="es-PE" smtClean="0"/>
              <a:t>‹Nº›</a:t>
            </a:fld>
            <a:endParaRPr lang="es-PE"/>
          </a:p>
        </p:txBody>
      </p:sp>
    </p:spTree>
    <p:extLst>
      <p:ext uri="{BB962C8B-B14F-4D97-AF65-F5344CB8AC3E}">
        <p14:creationId xmlns:p14="http://schemas.microsoft.com/office/powerpoint/2010/main" val="627001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BE90A3-8FC3-4BA7-AF50-6655241C0473}" type="datetimeFigureOut">
              <a:rPr lang="es-PE" smtClean="0"/>
              <a:t>22/02/2017</a:t>
            </a:fld>
            <a:endParaRPr lang="es-PE"/>
          </a:p>
        </p:txBody>
      </p:sp>
      <p:sp>
        <p:nvSpPr>
          <p:cNvPr id="3" name="Footer Placeholder 2"/>
          <p:cNvSpPr>
            <a:spLocks noGrp="1"/>
          </p:cNvSpPr>
          <p:nvPr>
            <p:ph type="ftr" sz="quarter" idx="11"/>
          </p:nvPr>
        </p:nvSpPr>
        <p:spPr/>
        <p:txBody>
          <a:bodyPr/>
          <a:lstStyle/>
          <a:p>
            <a:endParaRPr lang="es-PE"/>
          </a:p>
        </p:txBody>
      </p:sp>
      <p:sp>
        <p:nvSpPr>
          <p:cNvPr id="4" name="Slide Number Placeholder 3"/>
          <p:cNvSpPr>
            <a:spLocks noGrp="1"/>
          </p:cNvSpPr>
          <p:nvPr>
            <p:ph type="sldNum" sz="quarter" idx="12"/>
          </p:nvPr>
        </p:nvSpPr>
        <p:spPr/>
        <p:txBody>
          <a:bodyPr/>
          <a:lstStyle/>
          <a:p>
            <a:fld id="{0D16053D-87CD-4146-9C22-C1F6B430DA1B}" type="slidenum">
              <a:rPr lang="es-PE" smtClean="0"/>
              <a:t>‹Nº›</a:t>
            </a:fld>
            <a:endParaRPr lang="es-PE"/>
          </a:p>
        </p:txBody>
      </p:sp>
    </p:spTree>
    <p:extLst>
      <p:ext uri="{BB962C8B-B14F-4D97-AF65-F5344CB8AC3E}">
        <p14:creationId xmlns:p14="http://schemas.microsoft.com/office/powerpoint/2010/main" val="148540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5BE90A3-8FC3-4BA7-AF50-6655241C0473}" type="datetimeFigureOut">
              <a:rPr lang="es-PE" smtClean="0"/>
              <a:t>22/02/2017</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0D16053D-87CD-4146-9C22-C1F6B430DA1B}" type="slidenum">
              <a:rPr lang="es-PE" smtClean="0"/>
              <a:t>‹Nº›</a:t>
            </a:fld>
            <a:endParaRPr lang="es-PE"/>
          </a:p>
        </p:txBody>
      </p:sp>
    </p:spTree>
    <p:extLst>
      <p:ext uri="{BB962C8B-B14F-4D97-AF65-F5344CB8AC3E}">
        <p14:creationId xmlns:p14="http://schemas.microsoft.com/office/powerpoint/2010/main" val="4147807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0D16053D-87CD-4146-9C22-C1F6B430DA1B}" type="slidenum">
              <a:rPr lang="es-PE" smtClean="0"/>
              <a:t>‹Nº›</a:t>
            </a:fld>
            <a:endParaRPr lang="es-PE"/>
          </a:p>
        </p:txBody>
      </p:sp>
      <p:sp>
        <p:nvSpPr>
          <p:cNvPr id="5" name="Date Placeholder 4"/>
          <p:cNvSpPr>
            <a:spLocks noGrp="1"/>
          </p:cNvSpPr>
          <p:nvPr>
            <p:ph type="dt" sz="half" idx="10"/>
          </p:nvPr>
        </p:nvSpPr>
        <p:spPr/>
        <p:txBody>
          <a:bodyPr/>
          <a:lstStyle/>
          <a:p>
            <a:fld id="{B5BE90A3-8FC3-4BA7-AF50-6655241C0473}" type="datetimeFigureOut">
              <a:rPr lang="es-PE" smtClean="0"/>
              <a:t>22/02/2017</a:t>
            </a:fld>
            <a:endParaRPr lang="es-PE"/>
          </a:p>
        </p:txBody>
      </p:sp>
    </p:spTree>
    <p:extLst>
      <p:ext uri="{BB962C8B-B14F-4D97-AF65-F5344CB8AC3E}">
        <p14:creationId xmlns:p14="http://schemas.microsoft.com/office/powerpoint/2010/main" val="1904691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5BE90A3-8FC3-4BA7-AF50-6655241C0473}" type="datetimeFigureOut">
              <a:rPr lang="es-PE" smtClean="0"/>
              <a:t>22/02/2017</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D16053D-87CD-4146-9C22-C1F6B430DA1B}" type="slidenum">
              <a:rPr lang="es-PE" smtClean="0"/>
              <a:t>‹Nº›</a:t>
            </a:fld>
            <a:endParaRPr lang="es-PE"/>
          </a:p>
        </p:txBody>
      </p:sp>
    </p:spTree>
    <p:extLst>
      <p:ext uri="{BB962C8B-B14F-4D97-AF65-F5344CB8AC3E}">
        <p14:creationId xmlns:p14="http://schemas.microsoft.com/office/powerpoint/2010/main" val="1555211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5BE90A3-8FC3-4BA7-AF50-6655241C0473}" type="datetimeFigureOut">
              <a:rPr lang="es-PE" smtClean="0"/>
              <a:t>22/02/2017</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D16053D-87CD-4146-9C22-C1F6B430DA1B}" type="slidenum">
              <a:rPr lang="es-PE" smtClean="0"/>
              <a:t>‹Nº›</a:t>
            </a:fld>
            <a:endParaRPr lang="es-PE"/>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04401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5BE90A3-8FC3-4BA7-AF50-6655241C0473}" type="datetimeFigureOut">
              <a:rPr lang="es-PE" smtClean="0"/>
              <a:t>22/02/2017</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D16053D-87CD-4146-9C22-C1F6B430DA1B}" type="slidenum">
              <a:rPr lang="es-PE" smtClean="0"/>
              <a:t>‹Nº›</a:t>
            </a:fld>
            <a:endParaRPr lang="es-PE"/>
          </a:p>
        </p:txBody>
      </p:sp>
    </p:spTree>
    <p:extLst>
      <p:ext uri="{BB962C8B-B14F-4D97-AF65-F5344CB8AC3E}">
        <p14:creationId xmlns:p14="http://schemas.microsoft.com/office/powerpoint/2010/main" val="1573239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5BE90A3-8FC3-4BA7-AF50-6655241C0473}" type="datetimeFigureOut">
              <a:rPr lang="es-PE" smtClean="0"/>
              <a:t>22/02/2017</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D16053D-87CD-4146-9C22-C1F6B430DA1B}" type="slidenum">
              <a:rPr lang="es-PE" smtClean="0"/>
              <a:t>‹Nº›</a:t>
            </a:fld>
            <a:endParaRPr lang="es-PE"/>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657207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5BE90A3-8FC3-4BA7-AF50-6655241C0473}" type="datetimeFigureOut">
              <a:rPr lang="es-PE" smtClean="0"/>
              <a:t>22/02/2017</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D16053D-87CD-4146-9C22-C1F6B430DA1B}" type="slidenum">
              <a:rPr lang="es-PE" smtClean="0"/>
              <a:t>‹Nº›</a:t>
            </a:fld>
            <a:endParaRPr lang="es-PE"/>
          </a:p>
        </p:txBody>
      </p:sp>
    </p:spTree>
    <p:extLst>
      <p:ext uri="{BB962C8B-B14F-4D97-AF65-F5344CB8AC3E}">
        <p14:creationId xmlns:p14="http://schemas.microsoft.com/office/powerpoint/2010/main" val="39883508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5BE90A3-8FC3-4BA7-AF50-6655241C0473}" type="datetimeFigureOut">
              <a:rPr lang="es-PE" smtClean="0"/>
              <a:t>22/02/2017</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D16053D-87CD-4146-9C22-C1F6B430DA1B}" type="slidenum">
              <a:rPr lang="es-PE" smtClean="0"/>
              <a:t>‹Nº›</a:t>
            </a:fld>
            <a:endParaRPr lang="es-PE"/>
          </a:p>
        </p:txBody>
      </p:sp>
    </p:spTree>
    <p:extLst>
      <p:ext uri="{BB962C8B-B14F-4D97-AF65-F5344CB8AC3E}">
        <p14:creationId xmlns:p14="http://schemas.microsoft.com/office/powerpoint/2010/main" val="17524948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5BE90A3-8FC3-4BA7-AF50-6655241C0473}" type="datetimeFigureOut">
              <a:rPr lang="es-PE" smtClean="0"/>
              <a:t>22/02/2017</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D16053D-87CD-4146-9C22-C1F6B430DA1B}" type="slidenum">
              <a:rPr lang="es-PE" smtClean="0"/>
              <a:t>‹Nº›</a:t>
            </a:fld>
            <a:endParaRPr lang="es-PE"/>
          </a:p>
        </p:txBody>
      </p:sp>
    </p:spTree>
    <p:extLst>
      <p:ext uri="{BB962C8B-B14F-4D97-AF65-F5344CB8AC3E}">
        <p14:creationId xmlns:p14="http://schemas.microsoft.com/office/powerpoint/2010/main" val="1295814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BE90A3-8FC3-4BA7-AF50-6655241C0473}" type="datetimeFigureOut">
              <a:rPr lang="es-PE" smtClean="0"/>
              <a:t>22/02/2017</a:t>
            </a:fld>
            <a:endParaRPr lang="es-PE"/>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PE"/>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D16053D-87CD-4146-9C22-C1F6B430DA1B}" type="slidenum">
              <a:rPr lang="es-PE" smtClean="0"/>
              <a:t>‹Nº›</a:t>
            </a:fld>
            <a:endParaRPr lang="es-PE"/>
          </a:p>
        </p:txBody>
      </p:sp>
    </p:spTree>
    <p:extLst>
      <p:ext uri="{BB962C8B-B14F-4D97-AF65-F5344CB8AC3E}">
        <p14:creationId xmlns:p14="http://schemas.microsoft.com/office/powerpoint/2010/main" val="1674975766"/>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 id="2147483828" r:id="rId13"/>
    <p:sldLayoutId id="2147483829" r:id="rId14"/>
    <p:sldLayoutId id="2147483830" r:id="rId15"/>
    <p:sldLayoutId id="214748383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9.emf"/><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jmock.org/" TargetMode="Externa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6.jpg"/><Relationship Id="rId5" Type="http://schemas.openxmlformats.org/officeDocument/2006/relationships/hyperlink" Target="http://easymock.org/" TargetMode="External"/><Relationship Id="rId4" Type="http://schemas.openxmlformats.org/officeDocument/2006/relationships/hyperlink" Target="https://code.google.com/p/mockito/"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ww.arkaitzgarro.com/html5/capitulo-13.html" TargetMode="External"/><Relationship Id="rId7" Type="http://schemas.openxmlformats.org/officeDocument/2006/relationships/hyperlink" Target="https://www.youtube.com/watch?v=GhuyqjWPjGk" TargetMode="Externa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hyperlink" Target="https://www.youtube.com/watch?v=SCe5A0lQzlM" TargetMode="External"/><Relationship Id="rId5" Type="http://schemas.openxmlformats.org/officeDocument/2006/relationships/hyperlink" Target="http://es.wikipedia.org/wiki/WebSocket" TargetMode="External"/><Relationship Id="rId4" Type="http://schemas.openxmlformats.org/officeDocument/2006/relationships/hyperlink" Target="https://www.websocket.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ctrTitle"/>
          </p:nvPr>
        </p:nvSpPr>
        <p:spPr>
          <a:xfrm>
            <a:off x="1524000" y="1665369"/>
            <a:ext cx="7106741" cy="347052"/>
          </a:xfrm>
        </p:spPr>
        <p:txBody>
          <a:bodyPr>
            <a:normAutofit/>
          </a:bodyPr>
          <a:lstStyle/>
          <a:p>
            <a:pPr algn="ctr"/>
            <a:r>
              <a:rPr lang="es-PE" altLang="es-PE" sz="1600" b="1" dirty="0" smtClean="0">
                <a:solidFill>
                  <a:srgbClr val="C00000"/>
                </a:solidFill>
                <a:ea typeface="Geneva"/>
                <a:cs typeface="Geneva"/>
              </a:rPr>
              <a:t>FACULTAD </a:t>
            </a:r>
            <a:r>
              <a:rPr lang="es-PE" altLang="es-PE" sz="1600" b="1" dirty="0">
                <a:solidFill>
                  <a:srgbClr val="C00000"/>
                </a:solidFill>
                <a:ea typeface="Geneva"/>
                <a:cs typeface="Geneva"/>
              </a:rPr>
              <a:t>DE INGENIERIA DE SISTEMAS EMPRESARIALES</a:t>
            </a:r>
            <a:endParaRPr lang="es-PE" altLang="es-PE" sz="1600" dirty="0">
              <a:solidFill>
                <a:srgbClr val="C00000"/>
              </a:solidFill>
              <a:ea typeface="Geneva"/>
              <a:cs typeface="Geneva"/>
            </a:endParaRPr>
          </a:p>
        </p:txBody>
      </p:sp>
      <p:sp>
        <p:nvSpPr>
          <p:cNvPr id="11267" name="Rectangle 5"/>
          <p:cNvSpPr>
            <a:spLocks noChangeArrowheads="1"/>
          </p:cNvSpPr>
          <p:nvPr/>
        </p:nvSpPr>
        <p:spPr bwMode="auto">
          <a:xfrm>
            <a:off x="1524000" y="6400800"/>
            <a:ext cx="26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2000"/>
              </a:spcBef>
              <a:buClr>
                <a:schemeClr val="accent1"/>
              </a:buClr>
              <a:buSzPct val="75000"/>
              <a:buBlip>
                <a:blip r:embed="rId2"/>
              </a:buBlip>
              <a:defRPr sz="2000">
                <a:solidFill>
                  <a:schemeClr val="accent1"/>
                </a:solidFill>
                <a:latin typeface="Arial" panose="020B0604020202020204" pitchFamily="34" charset="0"/>
                <a:ea typeface="Geneva"/>
                <a:cs typeface="Geneva"/>
              </a:defRPr>
            </a:lvl1pPr>
            <a:lvl2pPr marL="742950" indent="-285750">
              <a:spcBef>
                <a:spcPts val="600"/>
              </a:spcBef>
              <a:buClr>
                <a:srgbClr val="4A60CE"/>
              </a:buClr>
              <a:buSzPct val="75000"/>
              <a:buBlip>
                <a:blip r:embed="rId3"/>
              </a:buBlip>
              <a:defRPr sz="2800">
                <a:solidFill>
                  <a:schemeClr val="accent1"/>
                </a:solidFill>
                <a:latin typeface="Arial" panose="020B0604020202020204" pitchFamily="34" charset="0"/>
                <a:ea typeface="Geneva"/>
                <a:cs typeface="Geneva"/>
              </a:defRPr>
            </a:lvl2pPr>
            <a:lvl3pPr marL="1143000" indent="-228600">
              <a:spcBef>
                <a:spcPts val="600"/>
              </a:spcBef>
              <a:buClr>
                <a:schemeClr val="accent1"/>
              </a:buClr>
              <a:buSzPct val="75000"/>
              <a:buBlip>
                <a:blip r:embed="rId4"/>
              </a:buBlip>
              <a:defRPr sz="2400">
                <a:solidFill>
                  <a:schemeClr val="accent1"/>
                </a:solidFill>
                <a:latin typeface="Arial" panose="020B0604020202020204" pitchFamily="34" charset="0"/>
                <a:ea typeface="Geneva"/>
                <a:cs typeface="Geneva"/>
              </a:defRPr>
            </a:lvl3pPr>
            <a:lvl4pPr marL="1600200" indent="-228600">
              <a:spcBef>
                <a:spcPts val="600"/>
              </a:spcBef>
              <a:buClr>
                <a:srgbClr val="4A60CE"/>
              </a:buClr>
              <a:buSzPct val="75000"/>
              <a:buBlip>
                <a:blip r:embed="rId5"/>
              </a:buBlip>
              <a:defRPr sz="2000">
                <a:solidFill>
                  <a:schemeClr val="accent1"/>
                </a:solidFill>
                <a:latin typeface="Arial" panose="020B0604020202020204" pitchFamily="34" charset="0"/>
                <a:ea typeface="Geneva"/>
                <a:cs typeface="Geneva"/>
              </a:defRPr>
            </a:lvl4pPr>
            <a:lvl5pPr marL="2057400" indent="-228600">
              <a:spcBef>
                <a:spcPts val="600"/>
              </a:spcBef>
              <a:buClr>
                <a:schemeClr val="accent1"/>
              </a:buClr>
              <a:buSzPct val="75000"/>
              <a:buBlip>
                <a:blip r:embed="rId6"/>
              </a:buBlip>
              <a:defRPr sz="2000">
                <a:solidFill>
                  <a:schemeClr val="accent1"/>
                </a:solidFill>
                <a:latin typeface="Arial" panose="020B0604020202020204" pitchFamily="34" charset="0"/>
                <a:ea typeface="Geneva"/>
                <a:cs typeface="Geneva"/>
              </a:defRPr>
            </a:lvl5pPr>
            <a:lvl6pPr marL="2514600" indent="-228600" defTabSz="457200" eaLnBrk="0" fontAlgn="base" hangingPunct="0">
              <a:spcBef>
                <a:spcPts val="600"/>
              </a:spcBef>
              <a:spcAft>
                <a:spcPct val="0"/>
              </a:spcAft>
              <a:buClr>
                <a:schemeClr val="accent1"/>
              </a:buClr>
              <a:buSzPct val="75000"/>
              <a:buBlip>
                <a:blip r:embed="rId6"/>
              </a:buBlip>
              <a:defRPr sz="2000">
                <a:solidFill>
                  <a:schemeClr val="accent1"/>
                </a:solidFill>
                <a:latin typeface="Arial" panose="020B0604020202020204" pitchFamily="34" charset="0"/>
                <a:ea typeface="Geneva"/>
                <a:cs typeface="Geneva"/>
              </a:defRPr>
            </a:lvl6pPr>
            <a:lvl7pPr marL="2971800" indent="-228600" defTabSz="457200" eaLnBrk="0" fontAlgn="base" hangingPunct="0">
              <a:spcBef>
                <a:spcPts val="600"/>
              </a:spcBef>
              <a:spcAft>
                <a:spcPct val="0"/>
              </a:spcAft>
              <a:buClr>
                <a:schemeClr val="accent1"/>
              </a:buClr>
              <a:buSzPct val="75000"/>
              <a:buBlip>
                <a:blip r:embed="rId6"/>
              </a:buBlip>
              <a:defRPr sz="2000">
                <a:solidFill>
                  <a:schemeClr val="accent1"/>
                </a:solidFill>
                <a:latin typeface="Arial" panose="020B0604020202020204" pitchFamily="34" charset="0"/>
                <a:ea typeface="Geneva"/>
                <a:cs typeface="Geneva"/>
              </a:defRPr>
            </a:lvl7pPr>
            <a:lvl8pPr marL="3429000" indent="-228600" defTabSz="457200" eaLnBrk="0" fontAlgn="base" hangingPunct="0">
              <a:spcBef>
                <a:spcPts val="600"/>
              </a:spcBef>
              <a:spcAft>
                <a:spcPct val="0"/>
              </a:spcAft>
              <a:buClr>
                <a:schemeClr val="accent1"/>
              </a:buClr>
              <a:buSzPct val="75000"/>
              <a:buBlip>
                <a:blip r:embed="rId6"/>
              </a:buBlip>
              <a:defRPr sz="2000">
                <a:solidFill>
                  <a:schemeClr val="accent1"/>
                </a:solidFill>
                <a:latin typeface="Arial" panose="020B0604020202020204" pitchFamily="34" charset="0"/>
                <a:ea typeface="Geneva"/>
                <a:cs typeface="Geneva"/>
              </a:defRPr>
            </a:lvl8pPr>
            <a:lvl9pPr marL="3886200" indent="-228600" defTabSz="457200" eaLnBrk="0" fontAlgn="base" hangingPunct="0">
              <a:spcBef>
                <a:spcPts val="600"/>
              </a:spcBef>
              <a:spcAft>
                <a:spcPct val="0"/>
              </a:spcAft>
              <a:buClr>
                <a:schemeClr val="accent1"/>
              </a:buClr>
              <a:buSzPct val="75000"/>
              <a:buBlip>
                <a:blip r:embed="rId6"/>
              </a:buBlip>
              <a:defRPr sz="2000">
                <a:solidFill>
                  <a:schemeClr val="accent1"/>
                </a:solidFill>
                <a:latin typeface="Arial" panose="020B0604020202020204" pitchFamily="34" charset="0"/>
                <a:ea typeface="Geneva"/>
                <a:cs typeface="Geneva"/>
              </a:defRPr>
            </a:lvl9pPr>
          </a:lstStyle>
          <a:p>
            <a:pPr defTabSz="457200">
              <a:spcBef>
                <a:spcPct val="0"/>
              </a:spcBef>
              <a:buClrTx/>
              <a:buSzTx/>
              <a:buNone/>
            </a:pPr>
            <a:r>
              <a:rPr lang="pt-BR" altLang="es-PE" sz="2400" dirty="0">
                <a:solidFill>
                  <a:srgbClr val="0E1638"/>
                </a:solidFill>
              </a:rPr>
              <a:t> </a:t>
            </a:r>
            <a:endParaRPr lang="es-ES" altLang="es-PE" sz="2400" dirty="0">
              <a:solidFill>
                <a:srgbClr val="27343A"/>
              </a:solidFill>
            </a:endParaRPr>
          </a:p>
        </p:txBody>
      </p:sp>
      <p:sp>
        <p:nvSpPr>
          <p:cNvPr id="11272" name="CuadroTexto 3"/>
          <p:cNvSpPr txBox="1">
            <a:spLocks noChangeArrowheads="1"/>
          </p:cNvSpPr>
          <p:nvPr/>
        </p:nvSpPr>
        <p:spPr bwMode="auto">
          <a:xfrm>
            <a:off x="2392567" y="2253232"/>
            <a:ext cx="7683500" cy="3580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ts val="2000"/>
              </a:spcBef>
              <a:buClr>
                <a:schemeClr val="accent1"/>
              </a:buClr>
              <a:buSzPct val="75000"/>
              <a:buBlip>
                <a:blip r:embed="rId2"/>
              </a:buBlip>
              <a:defRPr sz="2000">
                <a:solidFill>
                  <a:schemeClr val="accent1"/>
                </a:solidFill>
                <a:latin typeface="Arial" panose="020B0604020202020204" pitchFamily="34" charset="0"/>
                <a:ea typeface="Geneva"/>
                <a:cs typeface="Geneva"/>
              </a:defRPr>
            </a:lvl1pPr>
            <a:lvl2pPr marL="742950" indent="-285750">
              <a:spcBef>
                <a:spcPts val="600"/>
              </a:spcBef>
              <a:buClr>
                <a:srgbClr val="4A60CE"/>
              </a:buClr>
              <a:buSzPct val="75000"/>
              <a:buBlip>
                <a:blip r:embed="rId3"/>
              </a:buBlip>
              <a:defRPr sz="2800">
                <a:solidFill>
                  <a:schemeClr val="accent1"/>
                </a:solidFill>
                <a:latin typeface="Arial" panose="020B0604020202020204" pitchFamily="34" charset="0"/>
                <a:ea typeface="Geneva"/>
                <a:cs typeface="Geneva"/>
              </a:defRPr>
            </a:lvl2pPr>
            <a:lvl3pPr marL="1143000" indent="-228600">
              <a:spcBef>
                <a:spcPts val="600"/>
              </a:spcBef>
              <a:buClr>
                <a:schemeClr val="accent1"/>
              </a:buClr>
              <a:buSzPct val="75000"/>
              <a:buBlip>
                <a:blip r:embed="rId4"/>
              </a:buBlip>
              <a:defRPr sz="2400">
                <a:solidFill>
                  <a:schemeClr val="accent1"/>
                </a:solidFill>
                <a:latin typeface="Arial" panose="020B0604020202020204" pitchFamily="34" charset="0"/>
                <a:ea typeface="Geneva"/>
                <a:cs typeface="Geneva"/>
              </a:defRPr>
            </a:lvl3pPr>
            <a:lvl4pPr marL="1600200" indent="-228600">
              <a:spcBef>
                <a:spcPts val="600"/>
              </a:spcBef>
              <a:buClr>
                <a:srgbClr val="4A60CE"/>
              </a:buClr>
              <a:buSzPct val="75000"/>
              <a:buBlip>
                <a:blip r:embed="rId5"/>
              </a:buBlip>
              <a:defRPr sz="2000">
                <a:solidFill>
                  <a:schemeClr val="accent1"/>
                </a:solidFill>
                <a:latin typeface="Arial" panose="020B0604020202020204" pitchFamily="34" charset="0"/>
                <a:ea typeface="Geneva"/>
                <a:cs typeface="Geneva"/>
              </a:defRPr>
            </a:lvl4pPr>
            <a:lvl5pPr marL="2057400" indent="-228600">
              <a:spcBef>
                <a:spcPts val="600"/>
              </a:spcBef>
              <a:buClr>
                <a:schemeClr val="accent1"/>
              </a:buClr>
              <a:buSzPct val="75000"/>
              <a:buBlip>
                <a:blip r:embed="rId6"/>
              </a:buBlip>
              <a:defRPr sz="2000">
                <a:solidFill>
                  <a:schemeClr val="accent1"/>
                </a:solidFill>
                <a:latin typeface="Arial" panose="020B0604020202020204" pitchFamily="34" charset="0"/>
                <a:ea typeface="Geneva"/>
                <a:cs typeface="Geneva"/>
              </a:defRPr>
            </a:lvl5pPr>
            <a:lvl6pPr marL="2514600" indent="-228600" defTabSz="457200" eaLnBrk="0" fontAlgn="base" hangingPunct="0">
              <a:spcBef>
                <a:spcPts val="600"/>
              </a:spcBef>
              <a:spcAft>
                <a:spcPct val="0"/>
              </a:spcAft>
              <a:buClr>
                <a:schemeClr val="accent1"/>
              </a:buClr>
              <a:buSzPct val="75000"/>
              <a:buBlip>
                <a:blip r:embed="rId6"/>
              </a:buBlip>
              <a:defRPr sz="2000">
                <a:solidFill>
                  <a:schemeClr val="accent1"/>
                </a:solidFill>
                <a:latin typeface="Arial" panose="020B0604020202020204" pitchFamily="34" charset="0"/>
                <a:ea typeface="Geneva"/>
                <a:cs typeface="Geneva"/>
              </a:defRPr>
            </a:lvl6pPr>
            <a:lvl7pPr marL="2971800" indent="-228600" defTabSz="457200" eaLnBrk="0" fontAlgn="base" hangingPunct="0">
              <a:spcBef>
                <a:spcPts val="600"/>
              </a:spcBef>
              <a:spcAft>
                <a:spcPct val="0"/>
              </a:spcAft>
              <a:buClr>
                <a:schemeClr val="accent1"/>
              </a:buClr>
              <a:buSzPct val="75000"/>
              <a:buBlip>
                <a:blip r:embed="rId6"/>
              </a:buBlip>
              <a:defRPr sz="2000">
                <a:solidFill>
                  <a:schemeClr val="accent1"/>
                </a:solidFill>
                <a:latin typeface="Arial" panose="020B0604020202020204" pitchFamily="34" charset="0"/>
                <a:ea typeface="Geneva"/>
                <a:cs typeface="Geneva"/>
              </a:defRPr>
            </a:lvl7pPr>
            <a:lvl8pPr marL="3429000" indent="-228600" defTabSz="457200" eaLnBrk="0" fontAlgn="base" hangingPunct="0">
              <a:spcBef>
                <a:spcPts val="600"/>
              </a:spcBef>
              <a:spcAft>
                <a:spcPct val="0"/>
              </a:spcAft>
              <a:buClr>
                <a:schemeClr val="accent1"/>
              </a:buClr>
              <a:buSzPct val="75000"/>
              <a:buBlip>
                <a:blip r:embed="rId6"/>
              </a:buBlip>
              <a:defRPr sz="2000">
                <a:solidFill>
                  <a:schemeClr val="accent1"/>
                </a:solidFill>
                <a:latin typeface="Arial" panose="020B0604020202020204" pitchFamily="34" charset="0"/>
                <a:ea typeface="Geneva"/>
                <a:cs typeface="Geneva"/>
              </a:defRPr>
            </a:lvl8pPr>
            <a:lvl9pPr marL="3886200" indent="-228600" defTabSz="457200" eaLnBrk="0" fontAlgn="base" hangingPunct="0">
              <a:spcBef>
                <a:spcPts val="600"/>
              </a:spcBef>
              <a:spcAft>
                <a:spcPct val="0"/>
              </a:spcAft>
              <a:buClr>
                <a:schemeClr val="accent1"/>
              </a:buClr>
              <a:buSzPct val="75000"/>
              <a:buBlip>
                <a:blip r:embed="rId6"/>
              </a:buBlip>
              <a:defRPr sz="2000">
                <a:solidFill>
                  <a:schemeClr val="accent1"/>
                </a:solidFill>
                <a:latin typeface="Arial" panose="020B0604020202020204" pitchFamily="34" charset="0"/>
                <a:ea typeface="Geneva"/>
                <a:cs typeface="Geneva"/>
              </a:defRPr>
            </a:lvl9pPr>
          </a:lstStyle>
          <a:p>
            <a:pPr marL="0" indent="0" algn="ctr">
              <a:buNone/>
              <a:defRPr/>
            </a:pPr>
            <a:r>
              <a:rPr lang="es-PE" b="1" dirty="0" smtClean="0">
                <a:solidFill>
                  <a:srgbClr val="1B2764"/>
                </a:solidFill>
              </a:rPr>
              <a:t>Tema</a:t>
            </a:r>
            <a:r>
              <a:rPr lang="es-PE" b="1" dirty="0">
                <a:solidFill>
                  <a:srgbClr val="1B2764"/>
                </a:solidFill>
              </a:rPr>
              <a:t>: </a:t>
            </a:r>
            <a:r>
              <a:rPr lang="es-PE" b="1" smtClean="0">
                <a:solidFill>
                  <a:schemeClr val="accent1">
                    <a:lumMod val="50000"/>
                  </a:schemeClr>
                </a:solidFill>
              </a:rPr>
              <a:t>Pruebas Unitarias</a:t>
            </a:r>
            <a:endParaRPr lang="es-PE" b="1" dirty="0">
              <a:solidFill>
                <a:schemeClr val="accent1">
                  <a:lumMod val="50000"/>
                </a:schemeClr>
              </a:solidFill>
            </a:endParaRPr>
          </a:p>
          <a:p>
            <a:pPr marL="0" indent="0" defTabSz="457200">
              <a:buClr>
                <a:srgbClr val="1B2764"/>
              </a:buClr>
              <a:buNone/>
              <a:defRPr/>
            </a:pPr>
            <a:r>
              <a:rPr lang="es-PE" b="1" dirty="0">
                <a:solidFill>
                  <a:srgbClr val="1B2764"/>
                </a:solidFill>
              </a:rPr>
              <a:t>Alumnos:</a:t>
            </a:r>
            <a:endParaRPr lang="es-PE" dirty="0">
              <a:solidFill>
                <a:srgbClr val="1B2764"/>
              </a:solidFill>
            </a:endParaRPr>
          </a:p>
          <a:p>
            <a:pPr marL="0" indent="0" defTabSz="457200">
              <a:spcBef>
                <a:spcPts val="0"/>
              </a:spcBef>
              <a:buClr>
                <a:srgbClr val="1B2764"/>
              </a:buClr>
              <a:buNone/>
              <a:defRPr/>
            </a:pPr>
            <a:r>
              <a:rPr lang="es-PE" dirty="0">
                <a:solidFill>
                  <a:srgbClr val="1B2764"/>
                </a:solidFill>
              </a:rPr>
              <a:t>			     </a:t>
            </a:r>
            <a:r>
              <a:rPr lang="es-PE" dirty="0" smtClean="0">
                <a:solidFill>
                  <a:srgbClr val="1B2764"/>
                </a:solidFill>
              </a:rPr>
              <a:t>Alonso Amado</a:t>
            </a:r>
            <a:endParaRPr lang="es-PE" dirty="0">
              <a:solidFill>
                <a:srgbClr val="1B2764"/>
              </a:solidFill>
            </a:endParaRPr>
          </a:p>
          <a:p>
            <a:pPr marL="1714500" lvl="4" indent="0" defTabSz="457200">
              <a:spcBef>
                <a:spcPts val="0"/>
              </a:spcBef>
              <a:buClr>
                <a:srgbClr val="1B2764"/>
              </a:buClr>
              <a:buNone/>
              <a:defRPr/>
            </a:pPr>
            <a:r>
              <a:rPr lang="es-PE" dirty="0">
                <a:solidFill>
                  <a:srgbClr val="1B2764"/>
                </a:solidFill>
              </a:rPr>
              <a:t>Fernando Cuesta</a:t>
            </a:r>
          </a:p>
          <a:p>
            <a:pPr marL="1714500" lvl="4" indent="0" defTabSz="457200">
              <a:spcBef>
                <a:spcPts val="0"/>
              </a:spcBef>
              <a:buClr>
                <a:srgbClr val="1B2764"/>
              </a:buClr>
              <a:buNone/>
              <a:defRPr/>
            </a:pPr>
            <a:endParaRPr lang="es-PE" dirty="0">
              <a:solidFill>
                <a:srgbClr val="1B2764"/>
              </a:solidFill>
            </a:endParaRPr>
          </a:p>
          <a:p>
            <a:pPr marL="0" indent="0" defTabSz="457200">
              <a:buClr>
                <a:srgbClr val="1B2764"/>
              </a:buClr>
              <a:buNone/>
              <a:defRPr/>
            </a:pPr>
            <a:r>
              <a:rPr lang="es-PE" b="1" dirty="0">
                <a:solidFill>
                  <a:srgbClr val="1B2764"/>
                </a:solidFill>
              </a:rPr>
              <a:t>Profesor</a:t>
            </a:r>
            <a:r>
              <a:rPr lang="es-PE" b="1" dirty="0" smtClean="0">
                <a:solidFill>
                  <a:srgbClr val="1B2764"/>
                </a:solidFill>
              </a:rPr>
              <a:t>: </a:t>
            </a:r>
            <a:r>
              <a:rPr lang="es-PE" dirty="0" smtClean="0">
                <a:solidFill>
                  <a:srgbClr val="1B2764"/>
                </a:solidFill>
              </a:rPr>
              <a:t>Gustavo Coronel castillo</a:t>
            </a:r>
            <a:endParaRPr lang="es-PE" dirty="0">
              <a:solidFill>
                <a:srgbClr val="1B2764"/>
              </a:solidFill>
            </a:endParaRPr>
          </a:p>
          <a:p>
            <a:pPr marL="0" indent="0" defTabSz="457200">
              <a:buClr>
                <a:srgbClr val="1B2764"/>
              </a:buClr>
              <a:buNone/>
              <a:defRPr/>
            </a:pPr>
            <a:r>
              <a:rPr lang="es-PE" b="1" dirty="0">
                <a:solidFill>
                  <a:srgbClr val="1B2764"/>
                </a:solidFill>
              </a:rPr>
              <a:t>Curso</a:t>
            </a:r>
            <a:r>
              <a:rPr lang="es-PE" b="1" dirty="0" smtClean="0">
                <a:solidFill>
                  <a:srgbClr val="1B2764"/>
                </a:solidFill>
              </a:rPr>
              <a:t>: </a:t>
            </a:r>
            <a:r>
              <a:rPr lang="es-PE" dirty="0" smtClean="0">
                <a:solidFill>
                  <a:srgbClr val="1B2764"/>
                </a:solidFill>
              </a:rPr>
              <a:t>Lenguaje de Programación</a:t>
            </a:r>
            <a:endParaRPr lang="es-PE" dirty="0" smtClean="0">
              <a:solidFill>
                <a:schemeClr val="accent1">
                  <a:lumMod val="50000"/>
                </a:schemeClr>
              </a:solidFill>
            </a:endParaRPr>
          </a:p>
          <a:p>
            <a:pPr marL="0" indent="0" algn="r" defTabSz="457200">
              <a:buClr>
                <a:srgbClr val="1B2764"/>
              </a:buClr>
              <a:buNone/>
              <a:defRPr/>
            </a:pPr>
            <a:r>
              <a:rPr lang="es-PE" b="1" dirty="0" smtClean="0">
                <a:solidFill>
                  <a:schemeClr val="tx1"/>
                </a:solidFill>
              </a:rPr>
              <a:t>Febrero 2017</a:t>
            </a:r>
            <a:endParaRPr lang="es-PE" b="1" dirty="0">
              <a:solidFill>
                <a:schemeClr val="tx1"/>
              </a:solidFill>
            </a:endParaRPr>
          </a:p>
        </p:txBody>
      </p:sp>
      <p:pic>
        <p:nvPicPr>
          <p:cNvPr id="6" name="image59.png"/>
          <p:cNvPicPr/>
          <p:nvPr/>
        </p:nvPicPr>
        <p:blipFill>
          <a:blip r:embed="rId7"/>
          <a:srcRect/>
          <a:stretch>
            <a:fillRect/>
          </a:stretch>
        </p:blipFill>
        <p:spPr>
          <a:xfrm>
            <a:off x="2541815" y="8019"/>
            <a:ext cx="5071110" cy="1657350"/>
          </a:xfrm>
          <a:prstGeom prst="rect">
            <a:avLst/>
          </a:prstGeom>
          <a:ln/>
        </p:spPr>
      </p:pic>
    </p:spTree>
    <p:extLst>
      <p:ext uri="{BB962C8B-B14F-4D97-AF65-F5344CB8AC3E}">
        <p14:creationId xmlns:p14="http://schemas.microsoft.com/office/powerpoint/2010/main" val="19418909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sp>
        <p:nvSpPr>
          <p:cNvPr id="4" name="CuadroTexto 3"/>
          <p:cNvSpPr txBox="1"/>
          <p:nvPr/>
        </p:nvSpPr>
        <p:spPr>
          <a:xfrm>
            <a:off x="3889113" y="166101"/>
            <a:ext cx="3985386" cy="646331"/>
          </a:xfrm>
          <a:prstGeom prst="rect">
            <a:avLst/>
          </a:prstGeom>
        </p:spPr>
        <p:txBody>
          <a:bodyPr vert="horz" lIns="91440" tIns="45720" rIns="91440" bIns="45720" rtlCol="0" anchor="t">
            <a:normAutofit fontScale="90000"/>
          </a:bodyPr>
          <a:lstStyle>
            <a:lvl1pPr defTabSz="457200">
              <a:spcBef>
                <a:spcPct val="0"/>
              </a:spcBef>
              <a:buNone/>
              <a:defRPr sz="3600" b="1">
                <a:solidFill>
                  <a:srgbClr val="C00000"/>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ctr"/>
            <a:r>
              <a:rPr lang="es-PE" dirty="0" smtClean="0"/>
              <a:t>Prueba de Software</a:t>
            </a:r>
            <a:endParaRPr lang="es-PE" dirty="0"/>
          </a:p>
        </p:txBody>
      </p:sp>
      <p:sp>
        <p:nvSpPr>
          <p:cNvPr id="2" name="CuadroTexto 1"/>
          <p:cNvSpPr txBox="1"/>
          <p:nvPr/>
        </p:nvSpPr>
        <p:spPr>
          <a:xfrm>
            <a:off x="914950" y="959908"/>
            <a:ext cx="9746673" cy="4247317"/>
          </a:xfrm>
          <a:prstGeom prst="rect">
            <a:avLst/>
          </a:prstGeom>
          <a:noFill/>
        </p:spPr>
        <p:txBody>
          <a:bodyPr wrap="square" rtlCol="0">
            <a:spAutoFit/>
          </a:bodyPr>
          <a:lstStyle/>
          <a:p>
            <a:pPr marL="285750" indent="-285750">
              <a:buFont typeface="Arial" panose="020B0604020202020204" pitchFamily="34" charset="0"/>
              <a:buChar char="•"/>
            </a:pPr>
            <a:r>
              <a:rPr lang="es-ES" dirty="0" smtClean="0"/>
              <a:t>Es el proceso orientado a demostrar que un programa no tienes errores, demostrando que un programa realiza las funciones para los cuales fue construido.</a:t>
            </a:r>
          </a:p>
          <a:p>
            <a:pPr marL="285750" indent="-285750">
              <a:buFont typeface="Arial" panose="020B0604020202020204" pitchFamily="34" charset="0"/>
              <a:buChar char="•"/>
            </a:pPr>
            <a:endParaRPr lang="es-ES" dirty="0" smtClean="0"/>
          </a:p>
          <a:p>
            <a:pPr marL="285750" indent="-285750">
              <a:buFont typeface="Arial" panose="020B0604020202020204" pitchFamily="34" charset="0"/>
              <a:buChar char="•"/>
            </a:pPr>
            <a:r>
              <a:rPr lang="es-ES" dirty="0" smtClean="0"/>
              <a:t>Tipos </a:t>
            </a:r>
            <a:r>
              <a:rPr lang="es-ES" dirty="0"/>
              <a:t>de errores</a:t>
            </a:r>
            <a:r>
              <a:rPr lang="es-ES" dirty="0" smtClean="0"/>
              <a:t>:</a:t>
            </a:r>
          </a:p>
          <a:p>
            <a:endParaRPr lang="es-ES" dirty="0" smtClean="0"/>
          </a:p>
          <a:p>
            <a:pPr marL="742950" lvl="1" indent="-285750">
              <a:buFont typeface="Arial" panose="020B0604020202020204" pitchFamily="34" charset="0"/>
              <a:buChar char="•"/>
            </a:pPr>
            <a:r>
              <a:rPr lang="es-ES" dirty="0" smtClean="0"/>
              <a:t>Error.- Es una equivocación de una persona al desarrollar alguna actividad de desarrollo de software.</a:t>
            </a:r>
          </a:p>
          <a:p>
            <a:pPr lvl="1"/>
            <a:endParaRPr lang="es-ES" dirty="0" smtClean="0"/>
          </a:p>
          <a:p>
            <a:pPr marL="742950" lvl="1" indent="-285750">
              <a:buFont typeface="Arial" panose="020B0604020202020204" pitchFamily="34" charset="0"/>
              <a:buChar char="•"/>
            </a:pPr>
            <a:r>
              <a:rPr lang="es-ES" dirty="0" smtClean="0"/>
              <a:t>Defecto.- Manifestación de un error en el software. Al momento de probar el software. (Vista interna)</a:t>
            </a:r>
          </a:p>
          <a:p>
            <a:pPr lvl="1"/>
            <a:endParaRPr lang="es-ES" dirty="0" smtClean="0"/>
          </a:p>
          <a:p>
            <a:pPr marL="742950" lvl="1" indent="-285750">
              <a:buFont typeface="Arial" panose="020B0604020202020204" pitchFamily="34" charset="0"/>
              <a:buChar char="•"/>
            </a:pPr>
            <a:r>
              <a:rPr lang="es-ES" dirty="0" smtClean="0"/>
              <a:t>Falla.- es un desvío respecto al comportamiento esperado del sistema, puede producirse en cualquier etapa. </a:t>
            </a:r>
            <a:r>
              <a:rPr lang="es-ES" dirty="0"/>
              <a:t>(Vista </a:t>
            </a:r>
            <a:r>
              <a:rPr lang="es-ES" dirty="0" smtClean="0"/>
              <a:t>externa)</a:t>
            </a:r>
            <a:endParaRPr lang="es-ES" dirty="0"/>
          </a:p>
          <a:p>
            <a:pPr marL="742950" lvl="1" indent="-285750">
              <a:buFont typeface="Arial" panose="020B0604020202020204" pitchFamily="34" charset="0"/>
              <a:buChar char="•"/>
            </a:pPr>
            <a:endParaRPr lang="es-ES" dirty="0"/>
          </a:p>
          <a:p>
            <a:endParaRPr lang="es-ES" dirty="0"/>
          </a:p>
        </p:txBody>
      </p:sp>
      <p:pic>
        <p:nvPicPr>
          <p:cNvPr id="7" name="Imagen 6"/>
          <p:cNvPicPr>
            <a:picLocks noChangeAspect="1"/>
          </p:cNvPicPr>
          <p:nvPr/>
        </p:nvPicPr>
        <p:blipFill>
          <a:blip r:embed="rId3"/>
          <a:stretch>
            <a:fillRect/>
          </a:stretch>
        </p:blipFill>
        <p:spPr>
          <a:xfrm>
            <a:off x="3023755" y="4597146"/>
            <a:ext cx="4301836" cy="2250463"/>
          </a:xfrm>
          <a:prstGeom prst="rect">
            <a:avLst/>
          </a:prstGeom>
        </p:spPr>
      </p:pic>
      <p:pic>
        <p:nvPicPr>
          <p:cNvPr id="8" name="Imagen 7"/>
          <p:cNvPicPr>
            <a:picLocks noChangeAspect="1"/>
          </p:cNvPicPr>
          <p:nvPr/>
        </p:nvPicPr>
        <p:blipFill>
          <a:blip r:embed="rId4"/>
          <a:stretch>
            <a:fillRect/>
          </a:stretch>
        </p:blipFill>
        <p:spPr>
          <a:xfrm>
            <a:off x="131617" y="2822447"/>
            <a:ext cx="1227859" cy="1227859"/>
          </a:xfrm>
          <a:prstGeom prst="rect">
            <a:avLst/>
          </a:prstGeom>
        </p:spPr>
      </p:pic>
    </p:spTree>
    <p:extLst>
      <p:ext uri="{BB962C8B-B14F-4D97-AF65-F5344CB8AC3E}">
        <p14:creationId xmlns:p14="http://schemas.microsoft.com/office/powerpoint/2010/main" val="3576557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sp>
        <p:nvSpPr>
          <p:cNvPr id="4" name="CuadroTexto 3"/>
          <p:cNvSpPr txBox="1"/>
          <p:nvPr/>
        </p:nvSpPr>
        <p:spPr>
          <a:xfrm>
            <a:off x="3889113" y="166101"/>
            <a:ext cx="3985386" cy="646331"/>
          </a:xfrm>
          <a:prstGeom prst="rect">
            <a:avLst/>
          </a:prstGeom>
        </p:spPr>
        <p:txBody>
          <a:bodyPr vert="horz" lIns="91440" tIns="45720" rIns="91440" bIns="45720" rtlCol="0" anchor="t">
            <a:normAutofit fontScale="90000"/>
          </a:bodyPr>
          <a:lstStyle>
            <a:lvl1pPr defTabSz="457200">
              <a:spcBef>
                <a:spcPct val="0"/>
              </a:spcBef>
              <a:buNone/>
              <a:defRPr sz="3600" b="1">
                <a:solidFill>
                  <a:srgbClr val="C00000"/>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ctr"/>
            <a:r>
              <a:rPr lang="es-PE" dirty="0" smtClean="0"/>
              <a:t>Prueba de Software</a:t>
            </a:r>
            <a:endParaRPr lang="es-PE" dirty="0"/>
          </a:p>
        </p:txBody>
      </p:sp>
      <p:pic>
        <p:nvPicPr>
          <p:cNvPr id="3" name="Imagen 2"/>
          <p:cNvPicPr>
            <a:picLocks noChangeAspect="1"/>
          </p:cNvPicPr>
          <p:nvPr/>
        </p:nvPicPr>
        <p:blipFill>
          <a:blip r:embed="rId3"/>
          <a:stretch>
            <a:fillRect/>
          </a:stretch>
        </p:blipFill>
        <p:spPr>
          <a:xfrm>
            <a:off x="1595632" y="955919"/>
            <a:ext cx="9415982" cy="5902081"/>
          </a:xfrm>
          <a:prstGeom prst="rect">
            <a:avLst/>
          </a:prstGeom>
        </p:spPr>
      </p:pic>
    </p:spTree>
    <p:extLst>
      <p:ext uri="{BB962C8B-B14F-4D97-AF65-F5344CB8AC3E}">
        <p14:creationId xmlns:p14="http://schemas.microsoft.com/office/powerpoint/2010/main" val="11228736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pic>
        <p:nvPicPr>
          <p:cNvPr id="7" name="Imagen 6"/>
          <p:cNvPicPr>
            <a:picLocks noChangeAspect="1"/>
          </p:cNvPicPr>
          <p:nvPr/>
        </p:nvPicPr>
        <p:blipFill>
          <a:blip r:embed="rId3"/>
          <a:stretch>
            <a:fillRect/>
          </a:stretch>
        </p:blipFill>
        <p:spPr>
          <a:xfrm>
            <a:off x="583189" y="1242579"/>
            <a:ext cx="9159627" cy="4752975"/>
          </a:xfrm>
          <a:prstGeom prst="rect">
            <a:avLst/>
          </a:prstGeom>
        </p:spPr>
      </p:pic>
      <p:sp>
        <p:nvSpPr>
          <p:cNvPr id="9" name="CuadroTexto 8"/>
          <p:cNvSpPr txBox="1"/>
          <p:nvPr/>
        </p:nvSpPr>
        <p:spPr>
          <a:xfrm>
            <a:off x="3889113" y="166101"/>
            <a:ext cx="3985386" cy="646331"/>
          </a:xfrm>
          <a:prstGeom prst="rect">
            <a:avLst/>
          </a:prstGeom>
        </p:spPr>
        <p:txBody>
          <a:bodyPr vert="horz" lIns="91440" tIns="45720" rIns="91440" bIns="45720" rtlCol="0" anchor="t">
            <a:normAutofit fontScale="97500"/>
          </a:bodyPr>
          <a:lstStyle>
            <a:lvl1pPr defTabSz="457200">
              <a:spcBef>
                <a:spcPct val="0"/>
              </a:spcBef>
              <a:buNone/>
              <a:defRPr sz="3600" b="1">
                <a:solidFill>
                  <a:srgbClr val="C00000"/>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ctr"/>
            <a:r>
              <a:rPr lang="es-PE" dirty="0" smtClean="0"/>
              <a:t>Niveles de Prueba</a:t>
            </a:r>
            <a:endParaRPr lang="es-PE" dirty="0"/>
          </a:p>
        </p:txBody>
      </p:sp>
    </p:spTree>
    <p:extLst>
      <p:ext uri="{BB962C8B-B14F-4D97-AF65-F5344CB8AC3E}">
        <p14:creationId xmlns:p14="http://schemas.microsoft.com/office/powerpoint/2010/main" val="27588208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sp>
        <p:nvSpPr>
          <p:cNvPr id="9" name="CuadroTexto 8"/>
          <p:cNvSpPr txBox="1"/>
          <p:nvPr/>
        </p:nvSpPr>
        <p:spPr>
          <a:xfrm>
            <a:off x="3638118" y="198321"/>
            <a:ext cx="5052993" cy="996636"/>
          </a:xfrm>
          <a:prstGeom prst="rect">
            <a:avLst/>
          </a:prstGeom>
        </p:spPr>
        <p:txBody>
          <a:bodyPr vert="horz" lIns="91440" tIns="45720" rIns="91440" bIns="45720" rtlCol="0" anchor="t">
            <a:normAutofit fontScale="67500" lnSpcReduction="20000"/>
          </a:bodyPr>
          <a:lstStyle>
            <a:lvl1pPr defTabSz="457200">
              <a:spcBef>
                <a:spcPct val="0"/>
              </a:spcBef>
              <a:buNone/>
              <a:defRPr sz="3600" b="1">
                <a:solidFill>
                  <a:srgbClr val="C00000"/>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ctr"/>
            <a:r>
              <a:rPr lang="es-PE" dirty="0" smtClean="0"/>
              <a:t>Métodos de Prueba</a:t>
            </a:r>
          </a:p>
          <a:p>
            <a:pPr algn="ctr"/>
            <a:endParaRPr lang="es-PE" dirty="0" smtClean="0"/>
          </a:p>
          <a:p>
            <a:pPr algn="ctr"/>
            <a:r>
              <a:rPr lang="es-PE" sz="2800" dirty="0" smtClean="0"/>
              <a:t>Pruebas de Caja Negra</a:t>
            </a:r>
            <a:endParaRPr lang="es-PE" sz="3100" dirty="0"/>
          </a:p>
        </p:txBody>
      </p:sp>
      <p:pic>
        <p:nvPicPr>
          <p:cNvPr id="2" name="Imagen 1"/>
          <p:cNvPicPr>
            <a:picLocks noChangeAspect="1"/>
          </p:cNvPicPr>
          <p:nvPr/>
        </p:nvPicPr>
        <p:blipFill>
          <a:blip r:embed="rId3"/>
          <a:stretch>
            <a:fillRect/>
          </a:stretch>
        </p:blipFill>
        <p:spPr>
          <a:xfrm>
            <a:off x="1525732" y="1853046"/>
            <a:ext cx="1181100" cy="2590800"/>
          </a:xfrm>
          <a:prstGeom prst="rect">
            <a:avLst/>
          </a:prstGeom>
        </p:spPr>
      </p:pic>
      <p:pic>
        <p:nvPicPr>
          <p:cNvPr id="3" name="Imagen 2"/>
          <p:cNvPicPr>
            <a:picLocks noChangeAspect="1"/>
          </p:cNvPicPr>
          <p:nvPr/>
        </p:nvPicPr>
        <p:blipFill>
          <a:blip r:embed="rId4"/>
          <a:stretch>
            <a:fillRect/>
          </a:stretch>
        </p:blipFill>
        <p:spPr>
          <a:xfrm>
            <a:off x="4874788" y="2442486"/>
            <a:ext cx="1142100" cy="1411920"/>
          </a:xfrm>
          <a:prstGeom prst="rect">
            <a:avLst/>
          </a:prstGeom>
        </p:spPr>
      </p:pic>
      <p:pic>
        <p:nvPicPr>
          <p:cNvPr id="4" name="Imagen 3"/>
          <p:cNvPicPr>
            <a:picLocks noChangeAspect="1"/>
          </p:cNvPicPr>
          <p:nvPr/>
        </p:nvPicPr>
        <p:blipFill>
          <a:blip r:embed="rId5"/>
          <a:stretch>
            <a:fillRect/>
          </a:stretch>
        </p:blipFill>
        <p:spPr>
          <a:xfrm>
            <a:off x="4259975" y="4281054"/>
            <a:ext cx="2371725" cy="1371600"/>
          </a:xfrm>
          <a:prstGeom prst="rect">
            <a:avLst/>
          </a:prstGeom>
        </p:spPr>
      </p:pic>
      <p:pic>
        <p:nvPicPr>
          <p:cNvPr id="5" name="Imagen 4"/>
          <p:cNvPicPr>
            <a:picLocks noChangeAspect="1"/>
          </p:cNvPicPr>
          <p:nvPr/>
        </p:nvPicPr>
        <p:blipFill>
          <a:blip r:embed="rId6"/>
          <a:stretch>
            <a:fillRect/>
          </a:stretch>
        </p:blipFill>
        <p:spPr>
          <a:xfrm>
            <a:off x="6710362" y="2924608"/>
            <a:ext cx="752475" cy="447675"/>
          </a:xfrm>
          <a:prstGeom prst="rect">
            <a:avLst/>
          </a:prstGeom>
        </p:spPr>
      </p:pic>
      <p:pic>
        <p:nvPicPr>
          <p:cNvPr id="8" name="Imagen 7"/>
          <p:cNvPicPr>
            <a:picLocks noChangeAspect="1"/>
          </p:cNvPicPr>
          <p:nvPr/>
        </p:nvPicPr>
        <p:blipFill>
          <a:blip r:embed="rId7"/>
          <a:stretch>
            <a:fillRect/>
          </a:stretch>
        </p:blipFill>
        <p:spPr>
          <a:xfrm>
            <a:off x="3647957" y="2924608"/>
            <a:ext cx="752475" cy="466725"/>
          </a:xfrm>
          <a:prstGeom prst="rect">
            <a:avLst/>
          </a:prstGeom>
        </p:spPr>
      </p:pic>
      <p:pic>
        <p:nvPicPr>
          <p:cNvPr id="10" name="Imagen 9"/>
          <p:cNvPicPr>
            <a:picLocks noChangeAspect="1"/>
          </p:cNvPicPr>
          <p:nvPr/>
        </p:nvPicPr>
        <p:blipFill>
          <a:blip r:embed="rId8"/>
          <a:stretch>
            <a:fillRect/>
          </a:stretch>
        </p:blipFill>
        <p:spPr>
          <a:xfrm>
            <a:off x="3487882" y="5943600"/>
            <a:ext cx="4114800" cy="914400"/>
          </a:xfrm>
          <a:prstGeom prst="rect">
            <a:avLst/>
          </a:prstGeom>
        </p:spPr>
      </p:pic>
      <p:sp>
        <p:nvSpPr>
          <p:cNvPr id="17" name="Flecha curvada hacia arriba 16"/>
          <p:cNvSpPr/>
          <p:nvPr/>
        </p:nvSpPr>
        <p:spPr>
          <a:xfrm rot="1508390">
            <a:off x="2275609" y="4843925"/>
            <a:ext cx="1540767" cy="65809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8" name="CuadroTexto 17"/>
          <p:cNvSpPr txBox="1"/>
          <p:nvPr/>
        </p:nvSpPr>
        <p:spPr>
          <a:xfrm>
            <a:off x="1143000" y="5351318"/>
            <a:ext cx="1968095" cy="1169551"/>
          </a:xfrm>
          <a:prstGeom prst="rect">
            <a:avLst/>
          </a:prstGeom>
          <a:noFill/>
        </p:spPr>
        <p:txBody>
          <a:bodyPr wrap="square" rtlCol="0">
            <a:spAutoFit/>
          </a:bodyPr>
          <a:lstStyle/>
          <a:p>
            <a:r>
              <a:rPr lang="es-ES" sz="1400" dirty="0" smtClean="0"/>
              <a:t>Es imposible probar con todas las entradas posibles. Creamos clases de equivalencias</a:t>
            </a:r>
            <a:endParaRPr lang="es-ES" sz="1400" dirty="0"/>
          </a:p>
        </p:txBody>
      </p:sp>
      <p:sp>
        <p:nvSpPr>
          <p:cNvPr id="19" name="CuadroTexto 18"/>
          <p:cNvSpPr txBox="1"/>
          <p:nvPr/>
        </p:nvSpPr>
        <p:spPr>
          <a:xfrm>
            <a:off x="1390650" y="1194957"/>
            <a:ext cx="8397586" cy="646331"/>
          </a:xfrm>
          <a:prstGeom prst="rect">
            <a:avLst/>
          </a:prstGeom>
          <a:noFill/>
        </p:spPr>
        <p:txBody>
          <a:bodyPr wrap="square" rtlCol="0">
            <a:spAutoFit/>
          </a:bodyPr>
          <a:lstStyle/>
          <a:p>
            <a:r>
              <a:rPr lang="es-ES" dirty="0" smtClean="0"/>
              <a:t>Pruebas funcionales sin acceso al código fuente de las aplicaciones, se trabaja con entradas y salidas.</a:t>
            </a:r>
            <a:endParaRPr lang="es-ES" dirty="0"/>
          </a:p>
        </p:txBody>
      </p:sp>
    </p:spTree>
    <p:extLst>
      <p:ext uri="{BB962C8B-B14F-4D97-AF65-F5344CB8AC3E}">
        <p14:creationId xmlns:p14="http://schemas.microsoft.com/office/powerpoint/2010/main" val="39862864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sp>
        <p:nvSpPr>
          <p:cNvPr id="9" name="CuadroTexto 8"/>
          <p:cNvSpPr txBox="1"/>
          <p:nvPr/>
        </p:nvSpPr>
        <p:spPr>
          <a:xfrm>
            <a:off x="3638118" y="198321"/>
            <a:ext cx="5052993" cy="996636"/>
          </a:xfrm>
          <a:prstGeom prst="rect">
            <a:avLst/>
          </a:prstGeom>
        </p:spPr>
        <p:txBody>
          <a:bodyPr vert="horz" lIns="91440" tIns="45720" rIns="91440" bIns="45720" rtlCol="0" anchor="t">
            <a:normAutofit fontScale="67500" lnSpcReduction="20000"/>
          </a:bodyPr>
          <a:lstStyle>
            <a:lvl1pPr defTabSz="457200">
              <a:spcBef>
                <a:spcPct val="0"/>
              </a:spcBef>
              <a:buNone/>
              <a:defRPr sz="3600" b="1">
                <a:solidFill>
                  <a:srgbClr val="C00000"/>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ctr"/>
            <a:r>
              <a:rPr lang="es-PE" dirty="0" smtClean="0"/>
              <a:t>Métodos de Prueba</a:t>
            </a:r>
          </a:p>
          <a:p>
            <a:pPr algn="ctr"/>
            <a:endParaRPr lang="es-PE" dirty="0" smtClean="0"/>
          </a:p>
          <a:p>
            <a:pPr algn="ctr"/>
            <a:r>
              <a:rPr lang="es-PE" sz="2800" dirty="0" smtClean="0"/>
              <a:t>Pruebas de Caja Blanca</a:t>
            </a:r>
            <a:endParaRPr lang="es-PE" sz="3100" dirty="0"/>
          </a:p>
        </p:txBody>
      </p:sp>
      <p:pic>
        <p:nvPicPr>
          <p:cNvPr id="5" name="Imagen 4"/>
          <p:cNvPicPr>
            <a:picLocks noChangeAspect="1"/>
          </p:cNvPicPr>
          <p:nvPr/>
        </p:nvPicPr>
        <p:blipFill>
          <a:blip r:embed="rId3"/>
          <a:stretch>
            <a:fillRect/>
          </a:stretch>
        </p:blipFill>
        <p:spPr>
          <a:xfrm>
            <a:off x="6710362" y="2924608"/>
            <a:ext cx="752475" cy="447675"/>
          </a:xfrm>
          <a:prstGeom prst="rect">
            <a:avLst/>
          </a:prstGeom>
        </p:spPr>
      </p:pic>
      <p:pic>
        <p:nvPicPr>
          <p:cNvPr id="8" name="Imagen 7"/>
          <p:cNvPicPr>
            <a:picLocks noChangeAspect="1"/>
          </p:cNvPicPr>
          <p:nvPr/>
        </p:nvPicPr>
        <p:blipFill>
          <a:blip r:embed="rId4"/>
          <a:stretch>
            <a:fillRect/>
          </a:stretch>
        </p:blipFill>
        <p:spPr>
          <a:xfrm>
            <a:off x="3647957" y="2924608"/>
            <a:ext cx="752475" cy="466725"/>
          </a:xfrm>
          <a:prstGeom prst="rect">
            <a:avLst/>
          </a:prstGeom>
        </p:spPr>
      </p:pic>
      <p:sp>
        <p:nvSpPr>
          <p:cNvPr id="17" name="Flecha curvada hacia arriba 16"/>
          <p:cNvSpPr/>
          <p:nvPr/>
        </p:nvSpPr>
        <p:spPr>
          <a:xfrm rot="1508390">
            <a:off x="2973570" y="5345623"/>
            <a:ext cx="1540767" cy="65809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8" name="CuadroTexto 17"/>
          <p:cNvSpPr txBox="1"/>
          <p:nvPr/>
        </p:nvSpPr>
        <p:spPr>
          <a:xfrm>
            <a:off x="1091045" y="5107251"/>
            <a:ext cx="1968095" cy="1600438"/>
          </a:xfrm>
          <a:prstGeom prst="rect">
            <a:avLst/>
          </a:prstGeom>
          <a:noFill/>
        </p:spPr>
        <p:txBody>
          <a:bodyPr wrap="square" rtlCol="0">
            <a:spAutoFit/>
          </a:bodyPr>
          <a:lstStyle/>
          <a:p>
            <a:r>
              <a:rPr lang="es-ES" sz="1400" dirty="0" smtClean="0"/>
              <a:t>Es imposible probar con todas las combinaciones posibles. Trabajamos con caminos, decisiones y condiciones.</a:t>
            </a:r>
            <a:endParaRPr lang="es-ES" sz="1400" dirty="0"/>
          </a:p>
        </p:txBody>
      </p:sp>
      <p:sp>
        <p:nvSpPr>
          <p:cNvPr id="19" name="CuadroTexto 18"/>
          <p:cNvSpPr txBox="1"/>
          <p:nvPr/>
        </p:nvSpPr>
        <p:spPr>
          <a:xfrm>
            <a:off x="1390650" y="1194957"/>
            <a:ext cx="8397586" cy="646331"/>
          </a:xfrm>
          <a:prstGeom prst="rect">
            <a:avLst/>
          </a:prstGeom>
          <a:noFill/>
        </p:spPr>
        <p:txBody>
          <a:bodyPr wrap="square" rtlCol="0">
            <a:spAutoFit/>
          </a:bodyPr>
          <a:lstStyle/>
          <a:p>
            <a:r>
              <a:rPr lang="es-ES" dirty="0" smtClean="0"/>
              <a:t>Pruebas con acceso al código fuente (datos y lógica). Se trabaja con entradas, salidas y el conocimiento interno.</a:t>
            </a:r>
            <a:endParaRPr lang="es-ES" dirty="0"/>
          </a:p>
        </p:txBody>
      </p:sp>
      <p:pic>
        <p:nvPicPr>
          <p:cNvPr id="7" name="Imagen 6"/>
          <p:cNvPicPr>
            <a:picLocks noChangeAspect="1"/>
          </p:cNvPicPr>
          <p:nvPr/>
        </p:nvPicPr>
        <p:blipFill>
          <a:blip r:embed="rId5"/>
          <a:stretch>
            <a:fillRect/>
          </a:stretch>
        </p:blipFill>
        <p:spPr>
          <a:xfrm>
            <a:off x="4883294" y="2315007"/>
            <a:ext cx="1323975" cy="1666875"/>
          </a:xfrm>
          <a:prstGeom prst="rect">
            <a:avLst/>
          </a:prstGeom>
        </p:spPr>
      </p:pic>
      <p:pic>
        <p:nvPicPr>
          <p:cNvPr id="11" name="Imagen 10"/>
          <p:cNvPicPr>
            <a:picLocks noChangeAspect="1"/>
          </p:cNvPicPr>
          <p:nvPr/>
        </p:nvPicPr>
        <p:blipFill>
          <a:blip r:embed="rId6"/>
          <a:stretch>
            <a:fillRect/>
          </a:stretch>
        </p:blipFill>
        <p:spPr>
          <a:xfrm>
            <a:off x="1677218" y="2039611"/>
            <a:ext cx="1609725" cy="3009900"/>
          </a:xfrm>
          <a:prstGeom prst="rect">
            <a:avLst/>
          </a:prstGeom>
        </p:spPr>
      </p:pic>
      <p:pic>
        <p:nvPicPr>
          <p:cNvPr id="12" name="Imagen 11"/>
          <p:cNvPicPr>
            <a:picLocks noChangeAspect="1"/>
          </p:cNvPicPr>
          <p:nvPr/>
        </p:nvPicPr>
        <p:blipFill>
          <a:blip r:embed="rId7"/>
          <a:stretch>
            <a:fillRect/>
          </a:stretch>
        </p:blipFill>
        <p:spPr>
          <a:xfrm>
            <a:off x="4552983" y="4709825"/>
            <a:ext cx="3223261" cy="1590000"/>
          </a:xfrm>
          <a:prstGeom prst="rect">
            <a:avLst/>
          </a:prstGeom>
        </p:spPr>
      </p:pic>
    </p:spTree>
    <p:extLst>
      <p:ext uri="{BB962C8B-B14F-4D97-AF65-F5344CB8AC3E}">
        <p14:creationId xmlns:p14="http://schemas.microsoft.com/office/powerpoint/2010/main" val="18220101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sp>
        <p:nvSpPr>
          <p:cNvPr id="4" name="CuadroTexto 3"/>
          <p:cNvSpPr txBox="1"/>
          <p:nvPr/>
        </p:nvSpPr>
        <p:spPr>
          <a:xfrm>
            <a:off x="3878722" y="396644"/>
            <a:ext cx="3985386" cy="646331"/>
          </a:xfrm>
          <a:prstGeom prst="rect">
            <a:avLst/>
          </a:prstGeom>
        </p:spPr>
        <p:txBody>
          <a:bodyPr vert="horz" lIns="91440" tIns="45720" rIns="91440" bIns="45720" rtlCol="0" anchor="t">
            <a:normAutofit fontScale="97500"/>
          </a:bodyPr>
          <a:lstStyle>
            <a:lvl1pPr defTabSz="457200">
              <a:spcBef>
                <a:spcPct val="0"/>
              </a:spcBef>
              <a:buNone/>
              <a:defRPr sz="3600" b="1">
                <a:solidFill>
                  <a:srgbClr val="C00000"/>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ctr"/>
            <a:r>
              <a:rPr lang="es-PE" dirty="0" smtClean="0"/>
              <a:t>Prueba Unitaria</a:t>
            </a:r>
            <a:endParaRPr lang="es-PE" dirty="0"/>
          </a:p>
        </p:txBody>
      </p:sp>
      <p:sp>
        <p:nvSpPr>
          <p:cNvPr id="2" name="CuadroTexto 1"/>
          <p:cNvSpPr txBox="1"/>
          <p:nvPr/>
        </p:nvSpPr>
        <p:spPr>
          <a:xfrm>
            <a:off x="707133" y="1335176"/>
            <a:ext cx="9746673" cy="4801314"/>
          </a:xfrm>
          <a:prstGeom prst="rect">
            <a:avLst/>
          </a:prstGeom>
          <a:noFill/>
        </p:spPr>
        <p:txBody>
          <a:bodyPr wrap="square" rtlCol="0">
            <a:spAutoFit/>
          </a:bodyPr>
          <a:lstStyle/>
          <a:p>
            <a:pPr marL="285750" indent="-285750">
              <a:buFont typeface="Arial" panose="020B0604020202020204" pitchFamily="34" charset="0"/>
              <a:buChar char="•"/>
            </a:pPr>
            <a:r>
              <a:rPr lang="es-ES" dirty="0"/>
              <a:t>Una prueba unitaria es una forma </a:t>
            </a:r>
            <a:r>
              <a:rPr lang="es-ES" b="1" dirty="0"/>
              <a:t>de probar el correcto funcionamiento de un módulo de código. </a:t>
            </a:r>
            <a:r>
              <a:rPr lang="es-ES" dirty="0"/>
              <a:t>Esto sirve para asegurar que cada uno de los</a:t>
            </a:r>
            <a:r>
              <a:rPr lang="es-ES" b="1" dirty="0"/>
              <a:t> módulos funcione correctamente por separado</a:t>
            </a:r>
            <a:r>
              <a:rPr lang="es-ES" b="1" dirty="0" smtClean="0"/>
              <a:t>.</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smtClean="0"/>
              <a:t>Consiste en </a:t>
            </a:r>
            <a:r>
              <a:rPr lang="es-ES" b="1" dirty="0" smtClean="0"/>
              <a:t>preparar </a:t>
            </a:r>
            <a:r>
              <a:rPr lang="es-ES" b="1" dirty="0"/>
              <a:t>una batería </a:t>
            </a:r>
            <a:r>
              <a:rPr lang="es-ES" dirty="0"/>
              <a:t>de casos de prueba. </a:t>
            </a:r>
            <a:r>
              <a:rPr lang="es-ES" dirty="0" smtClean="0"/>
              <a:t>La </a:t>
            </a:r>
            <a:r>
              <a:rPr lang="es-ES" dirty="0"/>
              <a:t>batería que prepara quien va a recibir el programa le permite saber si puede aceptarlo o no</a:t>
            </a:r>
            <a:r>
              <a:rPr lang="es-ES" b="1" dirty="0"/>
              <a:t>. Los casos de prueba se pueden escribir en papel y ejecutarlos disciplinadamente de forma manual</a:t>
            </a:r>
            <a:r>
              <a:rPr lang="es-ES" dirty="0"/>
              <a:t>; pero esta estrategia sólo es viable para programas pequeños. </a:t>
            </a:r>
            <a:r>
              <a:rPr lang="es-ES" dirty="0" smtClean="0"/>
              <a:t>Sin embargo, en programación profesional conviene automatizar las pruebas de forma que se puedan realizar muchas veces.</a:t>
            </a:r>
          </a:p>
          <a:p>
            <a:endParaRPr lang="es-ES" dirty="0" smtClean="0"/>
          </a:p>
          <a:p>
            <a:pPr marL="285750" indent="-285750">
              <a:buFont typeface="Arial" panose="020B0604020202020204" pitchFamily="34" charset="0"/>
              <a:buChar char="•"/>
            </a:pPr>
            <a:r>
              <a:rPr lang="es-ES" dirty="0" smtClean="0"/>
              <a:t>Si bien existen las pruebas unitarias son </a:t>
            </a:r>
            <a:r>
              <a:rPr lang="es-ES" b="1" dirty="0" smtClean="0"/>
              <a:t>aplicables a cualquier lenguaje de programación</a:t>
            </a:r>
            <a:r>
              <a:rPr lang="es-ES" dirty="0" smtClean="0"/>
              <a:t>, en el presente trabajo nos enfocamos en la versión de prueba unitaria para Java, llamada </a:t>
            </a:r>
            <a:r>
              <a:rPr lang="es-ES" dirty="0" err="1" smtClean="0"/>
              <a:t>Junit</a:t>
            </a:r>
            <a:r>
              <a:rPr lang="es-ES" dirty="0" smtClean="0"/>
              <a:t> para </a:t>
            </a:r>
            <a:r>
              <a:rPr lang="es-ES" dirty="0" err="1" smtClean="0"/>
              <a:t>Netbeans</a:t>
            </a:r>
            <a:r>
              <a:rPr lang="es-ES" dirty="0" smtClean="0"/>
              <a:t>.</a:t>
            </a:r>
          </a:p>
          <a:p>
            <a:pPr marL="285750" indent="-285750">
              <a:buFont typeface="Arial" panose="020B0604020202020204" pitchFamily="34" charset="0"/>
              <a:buChar char="•"/>
            </a:pPr>
            <a:endParaRPr lang="es-ES" dirty="0"/>
          </a:p>
          <a:p>
            <a:endParaRPr lang="es-ES" dirty="0"/>
          </a:p>
          <a:p>
            <a:endParaRPr lang="es-ES" dirty="0"/>
          </a:p>
        </p:txBody>
      </p:sp>
      <p:pic>
        <p:nvPicPr>
          <p:cNvPr id="3" name="Imagen 2"/>
          <p:cNvPicPr>
            <a:picLocks noChangeAspect="1"/>
          </p:cNvPicPr>
          <p:nvPr/>
        </p:nvPicPr>
        <p:blipFill>
          <a:blip r:embed="rId3"/>
          <a:stretch>
            <a:fillRect/>
          </a:stretch>
        </p:blipFill>
        <p:spPr>
          <a:xfrm>
            <a:off x="4290580" y="4905375"/>
            <a:ext cx="2343150" cy="1952625"/>
          </a:xfrm>
          <a:prstGeom prst="rect">
            <a:avLst/>
          </a:prstGeom>
        </p:spPr>
      </p:pic>
    </p:spTree>
    <p:extLst>
      <p:ext uri="{BB962C8B-B14F-4D97-AF65-F5344CB8AC3E}">
        <p14:creationId xmlns:p14="http://schemas.microsoft.com/office/powerpoint/2010/main" val="11259030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sp>
        <p:nvSpPr>
          <p:cNvPr id="4" name="CuadroTexto 3"/>
          <p:cNvSpPr txBox="1"/>
          <p:nvPr/>
        </p:nvSpPr>
        <p:spPr>
          <a:xfrm>
            <a:off x="3889113" y="166101"/>
            <a:ext cx="3985386" cy="646331"/>
          </a:xfrm>
          <a:prstGeom prst="rect">
            <a:avLst/>
          </a:prstGeom>
        </p:spPr>
        <p:txBody>
          <a:bodyPr vert="horz" lIns="91440" tIns="45720" rIns="91440" bIns="45720" rtlCol="0" anchor="t">
            <a:normAutofit fontScale="97500"/>
          </a:bodyPr>
          <a:lstStyle>
            <a:lvl1pPr defTabSz="457200">
              <a:spcBef>
                <a:spcPct val="0"/>
              </a:spcBef>
              <a:buNone/>
              <a:defRPr sz="3600" b="1">
                <a:solidFill>
                  <a:srgbClr val="C00000"/>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ctr"/>
            <a:r>
              <a:rPr lang="es-PE" dirty="0" err="1" smtClean="0"/>
              <a:t>JUnit</a:t>
            </a:r>
            <a:endParaRPr lang="es-PE" dirty="0"/>
          </a:p>
        </p:txBody>
      </p:sp>
      <p:sp>
        <p:nvSpPr>
          <p:cNvPr id="2" name="CuadroTexto 1"/>
          <p:cNvSpPr txBox="1"/>
          <p:nvPr/>
        </p:nvSpPr>
        <p:spPr>
          <a:xfrm>
            <a:off x="821434" y="1270269"/>
            <a:ext cx="9746673" cy="3139321"/>
          </a:xfrm>
          <a:prstGeom prst="rect">
            <a:avLst/>
          </a:prstGeom>
          <a:noFill/>
        </p:spPr>
        <p:txBody>
          <a:bodyPr wrap="square" rtlCol="0">
            <a:spAutoFit/>
          </a:bodyPr>
          <a:lstStyle/>
          <a:p>
            <a:pPr marL="285750" indent="-285750">
              <a:buFont typeface="Arial" panose="020B0604020202020204" pitchFamily="34" charset="0"/>
              <a:buChar char="•"/>
            </a:pPr>
            <a:endParaRPr lang="es-ES" dirty="0" smtClean="0"/>
          </a:p>
          <a:p>
            <a:pPr marL="285750" indent="-285750">
              <a:buFont typeface="Arial" panose="020B0604020202020204" pitchFamily="34" charset="0"/>
              <a:buChar char="•"/>
            </a:pPr>
            <a:r>
              <a:rPr lang="es-ES" dirty="0"/>
              <a:t>Framework para pruebas </a:t>
            </a:r>
            <a:r>
              <a:rPr lang="es-ES" dirty="0" smtClean="0"/>
              <a:t>unitarias de Java.</a:t>
            </a:r>
            <a:endParaRPr lang="es-ES" dirty="0"/>
          </a:p>
          <a:p>
            <a:pPr marL="285750" indent="-285750">
              <a:buFont typeface="Arial" panose="020B0604020202020204" pitchFamily="34" charset="0"/>
              <a:buChar char="•"/>
            </a:pPr>
            <a:endParaRPr lang="es-ES" dirty="0" smtClean="0"/>
          </a:p>
          <a:p>
            <a:pPr marL="285750" indent="-285750">
              <a:buFont typeface="Arial" panose="020B0604020202020204" pitchFamily="34" charset="0"/>
              <a:buChar char="•"/>
            </a:pPr>
            <a:r>
              <a:rPr lang="es-ES" dirty="0"/>
              <a:t>Conjunto de librerías creadas por Erich Gamma </a:t>
            </a:r>
            <a:r>
              <a:rPr lang="es-ES" dirty="0" smtClean="0"/>
              <a:t>y Kent </a:t>
            </a:r>
            <a:r>
              <a:rPr lang="es-ES" dirty="0"/>
              <a:t>Beck que son utilizadas en programación </a:t>
            </a:r>
            <a:r>
              <a:rPr lang="es-ES" dirty="0" smtClean="0"/>
              <a:t>para hacer </a:t>
            </a:r>
            <a:r>
              <a:rPr lang="es-ES" dirty="0"/>
              <a:t>pruebas unitarias de aplicaciones </a:t>
            </a:r>
            <a:r>
              <a:rPr lang="es-ES" dirty="0" smtClean="0"/>
              <a:t>Java.</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El </a:t>
            </a:r>
            <a:r>
              <a:rPr lang="es-ES" dirty="0" err="1"/>
              <a:t>framework</a:t>
            </a:r>
            <a:r>
              <a:rPr lang="es-ES" dirty="0"/>
              <a:t> incluye formas de ver los </a:t>
            </a:r>
            <a:r>
              <a:rPr lang="es-ES" dirty="0" smtClean="0"/>
              <a:t>resultados (</a:t>
            </a:r>
            <a:r>
              <a:rPr lang="es-ES" dirty="0" err="1" smtClean="0"/>
              <a:t>runners</a:t>
            </a:r>
            <a:r>
              <a:rPr lang="es-ES" dirty="0"/>
              <a:t>) que pueden ser en modo texto, </a:t>
            </a:r>
            <a:r>
              <a:rPr lang="es-ES" dirty="0" smtClean="0"/>
              <a:t>gráfico (AWT </a:t>
            </a:r>
            <a:r>
              <a:rPr lang="es-ES" dirty="0"/>
              <a:t>o Swing) o como tarea en </a:t>
            </a:r>
            <a:r>
              <a:rPr lang="es-ES" dirty="0" err="1"/>
              <a:t>Ant</a:t>
            </a:r>
            <a:r>
              <a:rPr lang="es-ES" dirty="0" smtClean="0"/>
              <a:t>.</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Plug-</a:t>
            </a:r>
            <a:r>
              <a:rPr lang="es-ES" dirty="0" err="1"/>
              <a:t>ins</a:t>
            </a:r>
            <a:r>
              <a:rPr lang="es-ES" dirty="0"/>
              <a:t> para principales </a:t>
            </a:r>
            <a:r>
              <a:rPr lang="es-ES" dirty="0" err="1"/>
              <a:t>IDEs</a:t>
            </a:r>
            <a:r>
              <a:rPr lang="es-ES" dirty="0"/>
              <a:t> como Eclipse y </a:t>
            </a:r>
            <a:r>
              <a:rPr lang="es-ES" dirty="0" err="1"/>
              <a:t>NetBeans</a:t>
            </a:r>
            <a:r>
              <a:rPr lang="es-ES" dirty="0"/>
              <a:t>.</a:t>
            </a:r>
          </a:p>
          <a:p>
            <a:endParaRPr lang="es-ES" dirty="0"/>
          </a:p>
        </p:txBody>
      </p:sp>
      <p:pic>
        <p:nvPicPr>
          <p:cNvPr id="3" name="Imagen 2"/>
          <p:cNvPicPr>
            <a:picLocks noChangeAspect="1"/>
          </p:cNvPicPr>
          <p:nvPr/>
        </p:nvPicPr>
        <p:blipFill>
          <a:blip r:embed="rId3"/>
          <a:stretch>
            <a:fillRect/>
          </a:stretch>
        </p:blipFill>
        <p:spPr>
          <a:xfrm>
            <a:off x="4556252" y="4659610"/>
            <a:ext cx="2048434" cy="2048434"/>
          </a:xfrm>
          <a:prstGeom prst="rect">
            <a:avLst/>
          </a:prstGeom>
        </p:spPr>
      </p:pic>
    </p:spTree>
    <p:extLst>
      <p:ext uri="{BB962C8B-B14F-4D97-AF65-F5344CB8AC3E}">
        <p14:creationId xmlns:p14="http://schemas.microsoft.com/office/powerpoint/2010/main" val="2708920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sp>
        <p:nvSpPr>
          <p:cNvPr id="4" name="CuadroTexto 3"/>
          <p:cNvSpPr txBox="1"/>
          <p:nvPr/>
        </p:nvSpPr>
        <p:spPr>
          <a:xfrm>
            <a:off x="3097746" y="115134"/>
            <a:ext cx="5182152" cy="636620"/>
          </a:xfrm>
          <a:prstGeom prst="rect">
            <a:avLst/>
          </a:prstGeom>
        </p:spPr>
        <p:txBody>
          <a:bodyPr vert="horz" lIns="91440" tIns="45720" rIns="91440" bIns="45720" rtlCol="0" anchor="t">
            <a:normAutofit fontScale="97500"/>
          </a:bodyPr>
          <a:lstStyle>
            <a:lvl1pPr defTabSz="457200">
              <a:spcBef>
                <a:spcPct val="0"/>
              </a:spcBef>
              <a:buNone/>
              <a:defRPr sz="3600" b="1">
                <a:solidFill>
                  <a:srgbClr val="C00000"/>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ctr"/>
            <a:r>
              <a:rPr lang="es-PE" dirty="0" smtClean="0"/>
              <a:t>Historia de </a:t>
            </a:r>
            <a:r>
              <a:rPr lang="es-PE" dirty="0" err="1" smtClean="0"/>
              <a:t>JUnit</a:t>
            </a:r>
            <a:endParaRPr lang="es-PE" dirty="0"/>
          </a:p>
        </p:txBody>
      </p:sp>
      <p:sp>
        <p:nvSpPr>
          <p:cNvPr id="2" name="CuadroTexto 1"/>
          <p:cNvSpPr txBox="1"/>
          <p:nvPr/>
        </p:nvSpPr>
        <p:spPr>
          <a:xfrm>
            <a:off x="727915" y="939625"/>
            <a:ext cx="9746673" cy="4247317"/>
          </a:xfrm>
          <a:prstGeom prst="rect">
            <a:avLst/>
          </a:prstGeom>
          <a:noFill/>
        </p:spPr>
        <p:txBody>
          <a:bodyPr wrap="square" rtlCol="0">
            <a:spAutoFit/>
          </a:bodyPr>
          <a:lstStyle/>
          <a:p>
            <a:pPr marL="285750" indent="-285750">
              <a:buFont typeface="Arial" panose="020B0604020202020204" pitchFamily="34" charset="0"/>
              <a:buChar char="•"/>
            </a:pPr>
            <a:r>
              <a:rPr lang="es-ES" dirty="0"/>
              <a:t>Kent Beck desarrolló la primera herramienta de prueba automatizada de </a:t>
            </a:r>
            <a:r>
              <a:rPr lang="es-ES" dirty="0" err="1"/>
              <a:t>xUnit</a:t>
            </a:r>
            <a:r>
              <a:rPr lang="es-ES" dirty="0"/>
              <a:t> para </a:t>
            </a:r>
            <a:r>
              <a:rPr lang="es-ES" dirty="0" err="1"/>
              <a:t>Smalltalk</a:t>
            </a:r>
            <a:r>
              <a:rPr lang="es-ES" dirty="0"/>
              <a:t> a mediados de los </a:t>
            </a:r>
            <a:r>
              <a:rPr lang="es-ES" dirty="0" smtClean="0"/>
              <a:t>90</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Beck y Gamma (de patrones de diseño </a:t>
            </a:r>
            <a:r>
              <a:rPr lang="es-ES" dirty="0" err="1"/>
              <a:t>Gang</a:t>
            </a:r>
            <a:r>
              <a:rPr lang="es-ES" dirty="0"/>
              <a:t> of </a:t>
            </a:r>
            <a:r>
              <a:rPr lang="es-ES" dirty="0" err="1"/>
              <a:t>Four</a:t>
            </a:r>
            <a:r>
              <a:rPr lang="es-ES" dirty="0"/>
              <a:t>) desarrollaron </a:t>
            </a:r>
            <a:r>
              <a:rPr lang="es-ES" dirty="0" err="1"/>
              <a:t>JUnit</a:t>
            </a:r>
            <a:r>
              <a:rPr lang="es-ES" dirty="0"/>
              <a:t> en un vuelo desde </a:t>
            </a:r>
            <a:r>
              <a:rPr lang="es-ES" dirty="0" err="1"/>
              <a:t>Zurich</a:t>
            </a:r>
            <a:r>
              <a:rPr lang="es-ES" dirty="0"/>
              <a:t> a Washington, D.C</a:t>
            </a:r>
            <a:r>
              <a:rPr lang="es-ES" dirty="0" smtClean="0"/>
              <a:t>.</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err="1" smtClean="0"/>
              <a:t>JUnit</a:t>
            </a:r>
            <a:r>
              <a:rPr lang="es-ES" dirty="0" smtClean="0"/>
              <a:t> </a:t>
            </a:r>
            <a:r>
              <a:rPr lang="es-ES" dirty="0"/>
              <a:t>se ha convertido en la herramienta estándar para el desarrollo impulsado por pruebas en Java </a:t>
            </a:r>
          </a:p>
          <a:p>
            <a:endParaRPr lang="es-ES" dirty="0"/>
          </a:p>
          <a:p>
            <a:pPr marL="285750" indent="-285750">
              <a:buFont typeface="Arial" panose="020B0604020202020204" pitchFamily="34" charset="0"/>
              <a:buChar char="•"/>
            </a:pPr>
            <a:r>
              <a:rPr lang="es-ES" dirty="0"/>
              <a:t>Los generadores de prueba </a:t>
            </a:r>
            <a:r>
              <a:rPr lang="es-ES" dirty="0" err="1" smtClean="0"/>
              <a:t>JUnit</a:t>
            </a:r>
            <a:r>
              <a:rPr lang="es-ES" dirty="0" smtClean="0"/>
              <a:t> </a:t>
            </a:r>
            <a:r>
              <a:rPr lang="es-ES" dirty="0"/>
              <a:t>ahora forman parte de muchos IDE de Java (Eclipse, </a:t>
            </a:r>
            <a:r>
              <a:rPr lang="es-ES" dirty="0" err="1"/>
              <a:t>BlueJ</a:t>
            </a:r>
            <a:r>
              <a:rPr lang="es-ES" dirty="0"/>
              <a:t>, </a:t>
            </a:r>
            <a:r>
              <a:rPr lang="es-ES" dirty="0" err="1"/>
              <a:t>Jbuilder</a:t>
            </a:r>
            <a:r>
              <a:rPr lang="es-ES" dirty="0"/>
              <a:t>, </a:t>
            </a:r>
            <a:r>
              <a:rPr lang="es-ES" dirty="0" err="1"/>
              <a:t>DrJava</a:t>
            </a:r>
            <a:r>
              <a:rPr lang="es-ES" dirty="0" smtClean="0"/>
              <a:t>)</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Las herramientas de </a:t>
            </a:r>
            <a:r>
              <a:rPr lang="es-ES" dirty="0" err="1"/>
              <a:t>Xunit</a:t>
            </a:r>
            <a:r>
              <a:rPr lang="es-ES" dirty="0"/>
              <a:t> han sido desarrolladas desde entonces para muchos otros idiomas (Perl, C ++, Python, Visual Basic, C #, ...)</a:t>
            </a:r>
          </a:p>
          <a:p>
            <a:endParaRPr lang="es-ES" dirty="0"/>
          </a:p>
        </p:txBody>
      </p:sp>
      <p:pic>
        <p:nvPicPr>
          <p:cNvPr id="5" name="Imagen 4"/>
          <p:cNvPicPr>
            <a:picLocks noChangeAspect="1"/>
          </p:cNvPicPr>
          <p:nvPr/>
        </p:nvPicPr>
        <p:blipFill>
          <a:blip r:embed="rId3"/>
          <a:stretch>
            <a:fillRect/>
          </a:stretch>
        </p:blipFill>
        <p:spPr>
          <a:xfrm>
            <a:off x="2930236" y="4961100"/>
            <a:ext cx="4998460" cy="1761818"/>
          </a:xfrm>
          <a:prstGeom prst="rect">
            <a:avLst/>
          </a:prstGeom>
        </p:spPr>
      </p:pic>
    </p:spTree>
    <p:extLst>
      <p:ext uri="{BB962C8B-B14F-4D97-AF65-F5344CB8AC3E}">
        <p14:creationId xmlns:p14="http://schemas.microsoft.com/office/powerpoint/2010/main" val="2156534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sp>
        <p:nvSpPr>
          <p:cNvPr id="4" name="CuadroTexto 3"/>
          <p:cNvSpPr txBox="1"/>
          <p:nvPr/>
        </p:nvSpPr>
        <p:spPr>
          <a:xfrm>
            <a:off x="3889113" y="166101"/>
            <a:ext cx="3985386" cy="646331"/>
          </a:xfrm>
          <a:prstGeom prst="rect">
            <a:avLst/>
          </a:prstGeom>
        </p:spPr>
        <p:txBody>
          <a:bodyPr vert="horz" lIns="91440" tIns="45720" rIns="91440" bIns="45720" rtlCol="0" anchor="t">
            <a:normAutofit fontScale="97500"/>
          </a:bodyPr>
          <a:lstStyle>
            <a:lvl1pPr defTabSz="457200">
              <a:spcBef>
                <a:spcPct val="0"/>
              </a:spcBef>
              <a:buNone/>
              <a:defRPr sz="3600" b="1">
                <a:solidFill>
                  <a:srgbClr val="C00000"/>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ctr"/>
            <a:r>
              <a:rPr lang="es-PE" dirty="0" err="1" smtClean="0"/>
              <a:t>JUnit</a:t>
            </a:r>
            <a:endParaRPr lang="es-PE" dirty="0"/>
          </a:p>
        </p:txBody>
      </p:sp>
      <p:sp>
        <p:nvSpPr>
          <p:cNvPr id="2" name="CuadroTexto 1"/>
          <p:cNvSpPr txBox="1"/>
          <p:nvPr/>
        </p:nvSpPr>
        <p:spPr>
          <a:xfrm>
            <a:off x="504275" y="1456162"/>
            <a:ext cx="10082160" cy="3970318"/>
          </a:xfrm>
          <a:prstGeom prst="rect">
            <a:avLst/>
          </a:prstGeom>
          <a:noFill/>
        </p:spPr>
        <p:txBody>
          <a:bodyPr wrap="square" rtlCol="0">
            <a:spAutoFit/>
          </a:bodyPr>
          <a:lstStyle/>
          <a:p>
            <a:r>
              <a:rPr lang="es-PE" b="1" dirty="0" smtClean="0">
                <a:solidFill>
                  <a:srgbClr val="FF0000"/>
                </a:solidFill>
              </a:rPr>
              <a:t>Razones </a:t>
            </a:r>
            <a:r>
              <a:rPr lang="es-PE" b="1" dirty="0">
                <a:solidFill>
                  <a:srgbClr val="FF0000"/>
                </a:solidFill>
              </a:rPr>
              <a:t>para realizar pruebas </a:t>
            </a:r>
            <a:r>
              <a:rPr lang="es-PE" b="1" dirty="0" smtClean="0">
                <a:solidFill>
                  <a:srgbClr val="FF0000"/>
                </a:solidFill>
              </a:rPr>
              <a:t>en </a:t>
            </a:r>
            <a:r>
              <a:rPr lang="es-PE" b="1" dirty="0" err="1" smtClean="0">
                <a:solidFill>
                  <a:srgbClr val="FF0000"/>
                </a:solidFill>
              </a:rPr>
              <a:t>JUnit</a:t>
            </a:r>
            <a:r>
              <a:rPr lang="es-PE" b="1" dirty="0" smtClean="0">
                <a:solidFill>
                  <a:srgbClr val="FF0000"/>
                </a:solidFill>
              </a:rPr>
              <a:t>:</a:t>
            </a:r>
            <a:endParaRPr lang="es-PE" b="1" dirty="0">
              <a:solidFill>
                <a:srgbClr val="FF0000"/>
              </a:solidFill>
            </a:endParaRPr>
          </a:p>
          <a:p>
            <a:pPr marL="285750" indent="-285750">
              <a:buFont typeface="Arial" panose="020B0604020202020204" pitchFamily="34" charset="0"/>
              <a:buChar char="•"/>
            </a:pPr>
            <a:endParaRPr lang="es-PE" dirty="0"/>
          </a:p>
          <a:p>
            <a:pPr marL="285750" indent="-285750">
              <a:buFont typeface="Arial" panose="020B0604020202020204" pitchFamily="34" charset="0"/>
              <a:buChar char="•"/>
            </a:pPr>
            <a:r>
              <a:rPr lang="es-PE" dirty="0" smtClean="0"/>
              <a:t>Asegura </a:t>
            </a:r>
            <a:r>
              <a:rPr lang="es-PE" dirty="0"/>
              <a:t>calidad del código entregado. Es la mejor forma de detectar </a:t>
            </a:r>
            <a:r>
              <a:rPr lang="es-PE" dirty="0" smtClean="0"/>
              <a:t>errores tempranamente </a:t>
            </a:r>
            <a:r>
              <a:rPr lang="es-PE" dirty="0"/>
              <a:t>en el desarrollo. No obstante, esto no asegura detectar todos los errores, por tanto prueba de integración y aceptación siguen siendo necesarias.</a:t>
            </a:r>
          </a:p>
          <a:p>
            <a:r>
              <a:rPr lang="es-PE" dirty="0"/>
              <a:t>	</a:t>
            </a:r>
            <a:endParaRPr lang="es-PE" dirty="0" smtClean="0"/>
          </a:p>
          <a:p>
            <a:endParaRPr lang="es-PE" dirty="0"/>
          </a:p>
          <a:p>
            <a:pPr marL="285750" indent="-285750">
              <a:buFont typeface="Arial" panose="020B0604020202020204" pitchFamily="34" charset="0"/>
              <a:buChar char="•"/>
            </a:pPr>
            <a:r>
              <a:rPr lang="es-PE" dirty="0" smtClean="0"/>
              <a:t>Ayuda </a:t>
            </a:r>
            <a:r>
              <a:rPr lang="es-PE" dirty="0"/>
              <a:t>a definir los requerimientos y responsabilidades de cada método en cada clase probada. </a:t>
            </a:r>
            <a:endParaRPr lang="es-PE" dirty="0" smtClean="0"/>
          </a:p>
          <a:p>
            <a:pPr marL="285750" indent="-285750">
              <a:buFont typeface="Arial" panose="020B0604020202020204" pitchFamily="34" charset="0"/>
              <a:buChar char="•"/>
            </a:pPr>
            <a:endParaRPr lang="es-PE" dirty="0"/>
          </a:p>
          <a:p>
            <a:r>
              <a:rPr lang="es-PE" dirty="0"/>
              <a:t>	</a:t>
            </a:r>
          </a:p>
          <a:p>
            <a:pPr marL="285750" indent="-285750">
              <a:buFont typeface="Arial" panose="020B0604020202020204" pitchFamily="34" charset="0"/>
              <a:buChar char="•"/>
            </a:pPr>
            <a:r>
              <a:rPr lang="es-PE" dirty="0" smtClean="0"/>
              <a:t>Constituye </a:t>
            </a:r>
            <a:r>
              <a:rPr lang="es-PE" dirty="0"/>
              <a:t>una buena forma de ejecutar pruebas de concepto. Cuando es necesario hacer pruebas de conceptos sin usar pruebas unitarias se convierte en un método efectivo</a:t>
            </a:r>
            <a:r>
              <a:rPr lang="es-PE" dirty="0" smtClean="0"/>
              <a:t>.</a:t>
            </a:r>
          </a:p>
          <a:p>
            <a:pPr marL="285750" indent="-285750">
              <a:buFont typeface="Arial" panose="020B0604020202020204" pitchFamily="34" charset="0"/>
              <a:buChar char="•"/>
            </a:pPr>
            <a:endParaRPr lang="es-PE" dirty="0"/>
          </a:p>
        </p:txBody>
      </p:sp>
    </p:spTree>
    <p:extLst>
      <p:ext uri="{BB962C8B-B14F-4D97-AF65-F5344CB8AC3E}">
        <p14:creationId xmlns:p14="http://schemas.microsoft.com/office/powerpoint/2010/main" val="8935292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sp>
        <p:nvSpPr>
          <p:cNvPr id="4" name="CuadroTexto 3"/>
          <p:cNvSpPr txBox="1"/>
          <p:nvPr/>
        </p:nvSpPr>
        <p:spPr>
          <a:xfrm>
            <a:off x="3889113" y="166101"/>
            <a:ext cx="3985386" cy="646331"/>
          </a:xfrm>
          <a:prstGeom prst="rect">
            <a:avLst/>
          </a:prstGeom>
        </p:spPr>
        <p:txBody>
          <a:bodyPr vert="horz" lIns="91440" tIns="45720" rIns="91440" bIns="45720" rtlCol="0" anchor="t">
            <a:normAutofit fontScale="97500"/>
          </a:bodyPr>
          <a:lstStyle>
            <a:lvl1pPr defTabSz="457200">
              <a:spcBef>
                <a:spcPct val="0"/>
              </a:spcBef>
              <a:buNone/>
              <a:defRPr sz="3600" b="1">
                <a:solidFill>
                  <a:srgbClr val="C00000"/>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ctr"/>
            <a:r>
              <a:rPr lang="es-PE" dirty="0" err="1" smtClean="0"/>
              <a:t>JUnit</a:t>
            </a:r>
            <a:endParaRPr lang="es-PE" dirty="0"/>
          </a:p>
        </p:txBody>
      </p:sp>
      <p:sp>
        <p:nvSpPr>
          <p:cNvPr id="2" name="CuadroTexto 1"/>
          <p:cNvSpPr txBox="1"/>
          <p:nvPr/>
        </p:nvSpPr>
        <p:spPr>
          <a:xfrm>
            <a:off x="427001" y="1250100"/>
            <a:ext cx="10275343" cy="3693319"/>
          </a:xfrm>
          <a:prstGeom prst="rect">
            <a:avLst/>
          </a:prstGeom>
          <a:noFill/>
        </p:spPr>
        <p:txBody>
          <a:bodyPr wrap="square" rtlCol="0">
            <a:spAutoFit/>
          </a:bodyPr>
          <a:lstStyle/>
          <a:p>
            <a:r>
              <a:rPr lang="es-PE" b="1" dirty="0" smtClean="0">
                <a:solidFill>
                  <a:srgbClr val="FF0000"/>
                </a:solidFill>
              </a:rPr>
              <a:t>Razones </a:t>
            </a:r>
            <a:r>
              <a:rPr lang="es-PE" b="1" dirty="0">
                <a:solidFill>
                  <a:srgbClr val="FF0000"/>
                </a:solidFill>
              </a:rPr>
              <a:t>para realizar </a:t>
            </a:r>
            <a:r>
              <a:rPr lang="es-PE" b="1" dirty="0" err="1" smtClean="0">
                <a:solidFill>
                  <a:srgbClr val="FF0000"/>
                </a:solidFill>
              </a:rPr>
              <a:t>JUnit</a:t>
            </a:r>
            <a:r>
              <a:rPr lang="es-PE" b="1" dirty="0" smtClean="0">
                <a:solidFill>
                  <a:srgbClr val="FF0000"/>
                </a:solidFill>
              </a:rPr>
              <a:t>:</a:t>
            </a:r>
            <a:endParaRPr lang="es-PE" b="1" dirty="0">
              <a:solidFill>
                <a:srgbClr val="FF0000"/>
              </a:solidFill>
            </a:endParaRPr>
          </a:p>
          <a:p>
            <a:endParaRPr lang="es-PE" dirty="0"/>
          </a:p>
          <a:p>
            <a:pPr marL="285750" indent="-285750">
              <a:buFont typeface="Arial" panose="020B0604020202020204" pitchFamily="34" charset="0"/>
              <a:buChar char="•"/>
            </a:pPr>
            <a:r>
              <a:rPr lang="es-ES" dirty="0"/>
              <a:t>Permite hacer </a:t>
            </a:r>
            <a:r>
              <a:rPr lang="es-ES" dirty="0" err="1"/>
              <a:t>refactoring</a:t>
            </a:r>
            <a:r>
              <a:rPr lang="es-ES" dirty="0"/>
              <a:t> tempranamente en el código. No es necesario todo un ciclo de integración para hacer </a:t>
            </a:r>
            <a:r>
              <a:rPr lang="es-ES" dirty="0" err="1"/>
              <a:t>refactoring</a:t>
            </a:r>
            <a:r>
              <a:rPr lang="es-ES" dirty="0"/>
              <a:t> en la aplicación, basta con ver cómo se comporta un caso de prueba para hacer </a:t>
            </a:r>
            <a:r>
              <a:rPr lang="es-ES" dirty="0" err="1"/>
              <a:t>refactoring</a:t>
            </a:r>
            <a:r>
              <a:rPr lang="es-ES" dirty="0"/>
              <a:t> unitario sobre la clase que estamos probando.</a:t>
            </a:r>
            <a:endParaRPr lang="es-PE" dirty="0"/>
          </a:p>
          <a:p>
            <a:r>
              <a:rPr lang="es-ES" dirty="0"/>
              <a:t> </a:t>
            </a:r>
            <a:endParaRPr lang="es-PE" dirty="0"/>
          </a:p>
          <a:p>
            <a:pPr marL="285750" indent="-285750">
              <a:buFont typeface="Arial" panose="020B0604020202020204" pitchFamily="34" charset="0"/>
              <a:buChar char="•"/>
            </a:pPr>
            <a:r>
              <a:rPr lang="es-ES" dirty="0" smtClean="0"/>
              <a:t>Permite</a:t>
            </a:r>
            <a:r>
              <a:rPr lang="es-ES" dirty="0"/>
              <a:t> incluso hacer pruebas de </a:t>
            </a:r>
            <a:r>
              <a:rPr lang="es-ES" dirty="0" err="1"/>
              <a:t>estress</a:t>
            </a:r>
            <a:r>
              <a:rPr lang="es-ES" dirty="0"/>
              <a:t> tempranamente en el código. Por ejemplo un método que realice una consulta SQL que exceda los tiempos de aceptación es posible optimizarla antes de integrar con la aplicación.</a:t>
            </a:r>
            <a:endParaRPr lang="es-PE" dirty="0"/>
          </a:p>
          <a:p>
            <a:r>
              <a:rPr lang="es-ES" dirty="0"/>
              <a:t> </a:t>
            </a:r>
            <a:endParaRPr lang="es-PE" dirty="0"/>
          </a:p>
          <a:p>
            <a:pPr marL="285750" indent="-285750">
              <a:buFont typeface="Arial" panose="020B0604020202020204" pitchFamily="34" charset="0"/>
              <a:buChar char="•"/>
            </a:pPr>
            <a:r>
              <a:rPr lang="es-ES" dirty="0" smtClean="0"/>
              <a:t>Permite</a:t>
            </a:r>
            <a:r>
              <a:rPr lang="es-ES" dirty="0"/>
              <a:t> encontrar errores o bugs tempranamente en el desarrollo. Y está demostrado que mientras más temprano se </a:t>
            </a:r>
            <a:r>
              <a:rPr lang="es-ES" dirty="0" err="1"/>
              <a:t>corrigan</a:t>
            </a:r>
            <a:r>
              <a:rPr lang="es-ES" dirty="0"/>
              <a:t> los errores, menos costará corregirlos.</a:t>
            </a:r>
            <a:endParaRPr lang="es-PE" dirty="0"/>
          </a:p>
          <a:p>
            <a:pPr marL="285750" indent="-285750">
              <a:buFont typeface="Arial" panose="020B0604020202020204" pitchFamily="34" charset="0"/>
              <a:buChar char="•"/>
            </a:pPr>
            <a:endParaRPr lang="es-PE" dirty="0"/>
          </a:p>
        </p:txBody>
      </p:sp>
      <p:pic>
        <p:nvPicPr>
          <p:cNvPr id="5" name="Imagen 4"/>
          <p:cNvPicPr>
            <a:picLocks noChangeAspect="1"/>
          </p:cNvPicPr>
          <p:nvPr/>
        </p:nvPicPr>
        <p:blipFill>
          <a:blip r:embed="rId3"/>
          <a:stretch>
            <a:fillRect/>
          </a:stretch>
        </p:blipFill>
        <p:spPr>
          <a:xfrm>
            <a:off x="4553670" y="4943419"/>
            <a:ext cx="2373844" cy="1417220"/>
          </a:xfrm>
          <a:prstGeom prst="rect">
            <a:avLst/>
          </a:prstGeom>
        </p:spPr>
      </p:pic>
    </p:spTree>
    <p:extLst>
      <p:ext uri="{BB962C8B-B14F-4D97-AF65-F5344CB8AC3E}">
        <p14:creationId xmlns:p14="http://schemas.microsoft.com/office/powerpoint/2010/main" val="14631380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sp>
        <p:nvSpPr>
          <p:cNvPr id="4" name="CuadroTexto 3"/>
          <p:cNvSpPr txBox="1"/>
          <p:nvPr/>
        </p:nvSpPr>
        <p:spPr>
          <a:xfrm>
            <a:off x="3493078" y="125985"/>
            <a:ext cx="4434005" cy="996157"/>
          </a:xfrm>
          <a:prstGeom prst="rect">
            <a:avLst/>
          </a:prstGeom>
        </p:spPr>
        <p:txBody>
          <a:bodyPr vert="horz" lIns="91440" tIns="45720" rIns="91440" bIns="45720" rtlCol="0" anchor="t">
            <a:normAutofit fontScale="90000"/>
          </a:bodyPr>
          <a:lstStyle>
            <a:lvl1pPr defTabSz="457200">
              <a:spcBef>
                <a:spcPct val="0"/>
              </a:spcBef>
              <a:buNone/>
              <a:defRPr sz="3600" b="1">
                <a:solidFill>
                  <a:srgbClr val="C00000"/>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ctr"/>
            <a:r>
              <a:rPr lang="es-PE" dirty="0" smtClean="0"/>
              <a:t>Arquitectura de </a:t>
            </a:r>
            <a:r>
              <a:rPr lang="es-PE" dirty="0" err="1" smtClean="0"/>
              <a:t>JUnit</a:t>
            </a:r>
            <a:endParaRPr lang="es-PE" dirty="0"/>
          </a:p>
        </p:txBody>
      </p:sp>
      <p:sp>
        <p:nvSpPr>
          <p:cNvPr id="2" name="CuadroTexto 1"/>
          <p:cNvSpPr txBox="1"/>
          <p:nvPr/>
        </p:nvSpPr>
        <p:spPr>
          <a:xfrm>
            <a:off x="769481" y="1402223"/>
            <a:ext cx="3937602" cy="4660379"/>
          </a:xfrm>
          <a:prstGeom prst="rect">
            <a:avLst/>
          </a:prstGeom>
          <a:noFill/>
        </p:spPr>
        <p:txBody>
          <a:bodyPr wrap="square" rtlCol="0">
            <a:spAutoFit/>
          </a:bodyPr>
          <a:lstStyle/>
          <a:p>
            <a:pPr marL="285750" indent="-285750" algn="just">
              <a:buFont typeface="Arial" panose="020B0604020202020204" pitchFamily="34" charset="0"/>
              <a:buChar char="•"/>
            </a:pPr>
            <a:r>
              <a:rPr lang="es-ES" dirty="0" err="1"/>
              <a:t>JUnit</a:t>
            </a:r>
            <a:r>
              <a:rPr lang="es-ES" dirty="0"/>
              <a:t> </a:t>
            </a:r>
            <a:r>
              <a:rPr lang="es-ES" dirty="0" err="1"/>
              <a:t>framework</a:t>
            </a:r>
            <a:r>
              <a:rPr lang="es-ES" dirty="0"/>
              <a:t> de prueba es un paquete de clases que le permite escribir pruebas para cada método, luego ejecutar fácilmente las </a:t>
            </a:r>
            <a:r>
              <a:rPr lang="es-ES" dirty="0" smtClean="0"/>
              <a:t>pruebas.</a:t>
            </a:r>
            <a:endParaRPr lang="es-ES" dirty="0"/>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err="1"/>
              <a:t>TestRunner</a:t>
            </a:r>
            <a:r>
              <a:rPr lang="es-ES" dirty="0"/>
              <a:t> ejecuta pruebas e informes </a:t>
            </a:r>
            <a:r>
              <a:rPr lang="es-ES" dirty="0" err="1" smtClean="0"/>
              <a:t>TestResults</a:t>
            </a:r>
            <a:r>
              <a:rPr lang="es-ES" dirty="0" smtClean="0"/>
              <a:t>.</a:t>
            </a:r>
            <a:endParaRPr lang="es-ES" dirty="0"/>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a:t>Prueba tu clase extendiendo la clase abstracta </a:t>
            </a:r>
            <a:r>
              <a:rPr lang="es-ES" dirty="0" err="1" smtClean="0"/>
              <a:t>TestCase</a:t>
            </a:r>
            <a:r>
              <a:rPr lang="es-ES" dirty="0" smtClean="0"/>
              <a:t>.</a:t>
            </a:r>
            <a:endParaRPr lang="es-ES" dirty="0"/>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a:t>Para escribir casos de prueba, es necesario conocer y entender la clase </a:t>
            </a:r>
            <a:r>
              <a:rPr lang="es-ES" dirty="0" err="1" smtClean="0"/>
              <a:t>Assert</a:t>
            </a:r>
            <a:r>
              <a:rPr lang="es-ES" dirty="0"/>
              <a:t>.</a:t>
            </a:r>
          </a:p>
          <a:p>
            <a:endParaRPr lang="es-ES" dirty="0"/>
          </a:p>
        </p:txBody>
      </p:sp>
      <p:pic>
        <p:nvPicPr>
          <p:cNvPr id="3" name="Imagen 2"/>
          <p:cNvPicPr>
            <a:picLocks noChangeAspect="1"/>
          </p:cNvPicPr>
          <p:nvPr/>
        </p:nvPicPr>
        <p:blipFill>
          <a:blip r:embed="rId3"/>
          <a:stretch>
            <a:fillRect/>
          </a:stretch>
        </p:blipFill>
        <p:spPr>
          <a:xfrm>
            <a:off x="4863424" y="1257223"/>
            <a:ext cx="4938188" cy="4950381"/>
          </a:xfrm>
          <a:prstGeom prst="rect">
            <a:avLst/>
          </a:prstGeom>
        </p:spPr>
      </p:pic>
    </p:spTree>
    <p:extLst>
      <p:ext uri="{BB962C8B-B14F-4D97-AF65-F5344CB8AC3E}">
        <p14:creationId xmlns:p14="http://schemas.microsoft.com/office/powerpoint/2010/main" val="4489504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sp>
        <p:nvSpPr>
          <p:cNvPr id="2" name="CuadroTexto 1"/>
          <p:cNvSpPr txBox="1"/>
          <p:nvPr/>
        </p:nvSpPr>
        <p:spPr>
          <a:xfrm>
            <a:off x="907634" y="1204792"/>
            <a:ext cx="9746673" cy="3693319"/>
          </a:xfrm>
          <a:prstGeom prst="rect">
            <a:avLst/>
          </a:prstGeom>
          <a:noFill/>
        </p:spPr>
        <p:txBody>
          <a:bodyPr wrap="square" rtlCol="0">
            <a:spAutoFit/>
          </a:bodyPr>
          <a:lstStyle/>
          <a:p>
            <a:r>
              <a:rPr lang="es-ES" dirty="0"/>
              <a:t>Existe una metodología de desarrollo denominada desarrollo guiado por pruebas (Test </a:t>
            </a:r>
            <a:r>
              <a:rPr lang="es-ES" dirty="0" err="1"/>
              <a:t>Driven</a:t>
            </a:r>
            <a:r>
              <a:rPr lang="es-ES" dirty="0"/>
              <a:t> </a:t>
            </a:r>
            <a:r>
              <a:rPr lang="es-ES" dirty="0" err="1"/>
              <a:t>Development</a:t>
            </a:r>
            <a:r>
              <a:rPr lang="es-ES" dirty="0"/>
              <a:t>, TDD) que se basa precisamente en implementar primero las pruebas y a partir de ellas implementar las funcionalidades de nuestra aplicación. </a:t>
            </a:r>
            <a:endParaRPr lang="es-PE" dirty="0"/>
          </a:p>
          <a:p>
            <a:endParaRPr lang="es-PE" dirty="0" smtClean="0">
              <a:solidFill>
                <a:srgbClr val="FF0000"/>
              </a:solidFill>
            </a:endParaRPr>
          </a:p>
          <a:p>
            <a:r>
              <a:rPr lang="es-PE" dirty="0" smtClean="0">
                <a:solidFill>
                  <a:srgbClr val="FF0000"/>
                </a:solidFill>
              </a:rPr>
              <a:t> </a:t>
            </a:r>
            <a:r>
              <a:rPr lang="es-ES" dirty="0"/>
              <a:t>Para asegurarnos que la aplicación funciona correctamente y sin ningún bug, la única manera es realizar todas las pruebas posibles en todos los escenarios. </a:t>
            </a:r>
            <a:endParaRPr lang="es-ES" dirty="0" smtClean="0"/>
          </a:p>
          <a:p>
            <a:endParaRPr lang="es-ES" dirty="0"/>
          </a:p>
          <a:p>
            <a:r>
              <a:rPr lang="es-ES" dirty="0" smtClean="0">
                <a:solidFill>
                  <a:srgbClr val="FF0000"/>
                </a:solidFill>
              </a:rPr>
              <a:t>Pero </a:t>
            </a:r>
            <a:r>
              <a:rPr lang="es-ES" dirty="0">
                <a:solidFill>
                  <a:srgbClr val="FF0000"/>
                </a:solidFill>
              </a:rPr>
              <a:t>¿cómo podemos asegurarnos de que hemos cubierto el 100% del código con pruebas?</a:t>
            </a:r>
            <a:r>
              <a:rPr lang="es-ES" dirty="0"/>
              <a:t> </a:t>
            </a:r>
            <a:endParaRPr lang="es-ES" dirty="0" smtClean="0"/>
          </a:p>
          <a:p>
            <a:endParaRPr lang="es-ES" dirty="0"/>
          </a:p>
          <a:p>
            <a:r>
              <a:rPr lang="es-ES" dirty="0" smtClean="0"/>
              <a:t>La </a:t>
            </a:r>
            <a:r>
              <a:rPr lang="es-ES" dirty="0"/>
              <a:t>manera más eficiente de lograrlo es escribir las pruebas antes que el código. De aquí nace la metodología TDD o Test drive </a:t>
            </a:r>
            <a:r>
              <a:rPr lang="es-ES" dirty="0" err="1"/>
              <a:t>development</a:t>
            </a:r>
            <a:r>
              <a:rPr lang="es-ES" dirty="0"/>
              <a:t>.</a:t>
            </a:r>
            <a:endParaRPr lang="es-PE" dirty="0"/>
          </a:p>
          <a:p>
            <a:endParaRPr lang="es-ES" dirty="0" smtClean="0"/>
          </a:p>
          <a:p>
            <a:r>
              <a:rPr lang="es-ES" dirty="0"/>
              <a:t> </a:t>
            </a:r>
            <a:endParaRPr lang="es-PE" dirty="0"/>
          </a:p>
        </p:txBody>
      </p:sp>
      <p:sp>
        <p:nvSpPr>
          <p:cNvPr id="7" name="Título 1"/>
          <p:cNvSpPr>
            <a:spLocks noGrp="1"/>
          </p:cNvSpPr>
          <p:nvPr>
            <p:ph type="title"/>
          </p:nvPr>
        </p:nvSpPr>
        <p:spPr>
          <a:xfrm>
            <a:off x="3360286" y="474526"/>
            <a:ext cx="6092807" cy="649357"/>
          </a:xfrm>
        </p:spPr>
        <p:txBody>
          <a:bodyPr vert="horz" lIns="91440" tIns="45720" rIns="91440" bIns="45720" rtlCol="0" anchor="t">
            <a:normAutofit fontScale="90000"/>
          </a:bodyPr>
          <a:lstStyle/>
          <a:p>
            <a:r>
              <a:rPr lang="en-US" b="1" dirty="0" smtClean="0">
                <a:solidFill>
                  <a:srgbClr val="C00000"/>
                </a:solidFill>
              </a:rPr>
              <a:t>Test </a:t>
            </a:r>
            <a:r>
              <a:rPr lang="en-US" b="1" dirty="0">
                <a:solidFill>
                  <a:srgbClr val="C00000"/>
                </a:solidFill>
              </a:rPr>
              <a:t>drive development (TDD)</a:t>
            </a:r>
            <a:endParaRPr lang="es-PE" b="1" dirty="0">
              <a:solidFill>
                <a:srgbClr val="C00000"/>
              </a:solidFill>
            </a:endParaRPr>
          </a:p>
        </p:txBody>
      </p:sp>
    </p:spTree>
    <p:extLst>
      <p:ext uri="{BB962C8B-B14F-4D97-AF65-F5344CB8AC3E}">
        <p14:creationId xmlns:p14="http://schemas.microsoft.com/office/powerpoint/2010/main" val="41611760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sp>
        <p:nvSpPr>
          <p:cNvPr id="2" name="CuadroTexto 1"/>
          <p:cNvSpPr txBox="1"/>
          <p:nvPr/>
        </p:nvSpPr>
        <p:spPr>
          <a:xfrm>
            <a:off x="868998" y="1123883"/>
            <a:ext cx="10425774" cy="5909310"/>
          </a:xfrm>
          <a:prstGeom prst="rect">
            <a:avLst/>
          </a:prstGeom>
          <a:noFill/>
        </p:spPr>
        <p:txBody>
          <a:bodyPr wrap="square" rtlCol="0">
            <a:spAutoFit/>
          </a:bodyPr>
          <a:lstStyle/>
          <a:p>
            <a:r>
              <a:rPr lang="es-ES" dirty="0"/>
              <a:t>Test drive </a:t>
            </a:r>
            <a:r>
              <a:rPr lang="es-ES" dirty="0" err="1"/>
              <a:t>development</a:t>
            </a:r>
            <a:r>
              <a:rPr lang="es-ES" dirty="0"/>
              <a:t> o </a:t>
            </a:r>
            <a:r>
              <a:rPr lang="es-ES" dirty="0" smtClean="0"/>
              <a:t>TDD, </a:t>
            </a:r>
            <a:r>
              <a:rPr lang="es-ES" dirty="0"/>
              <a:t>es una metodología de diseño e implementación de software, esta metodología se centrada en 3 pilares básicos:</a:t>
            </a:r>
            <a:endParaRPr lang="es-PE" dirty="0"/>
          </a:p>
          <a:p>
            <a:r>
              <a:rPr lang="es-ES" dirty="0"/>
              <a:t> </a:t>
            </a:r>
            <a:endParaRPr lang="es-PE" dirty="0"/>
          </a:p>
          <a:p>
            <a:pPr marL="285750" lvl="0" indent="-285750">
              <a:buFont typeface="Wingdings" panose="05000000000000000000" pitchFamily="2" charset="2"/>
              <a:buChar char="ü"/>
            </a:pPr>
            <a:r>
              <a:rPr lang="es-ES" dirty="0"/>
              <a:t>La implementación de las funciones justas que el cliente necesita y no más</a:t>
            </a:r>
            <a:r>
              <a:rPr lang="es-ES" dirty="0" smtClean="0"/>
              <a:t>.</a:t>
            </a:r>
          </a:p>
          <a:p>
            <a:pPr marL="285750" lvl="0" indent="-285750">
              <a:buFont typeface="Wingdings" panose="05000000000000000000" pitchFamily="2" charset="2"/>
              <a:buChar char="ü"/>
            </a:pPr>
            <a:r>
              <a:rPr lang="es-ES" dirty="0" smtClean="0"/>
              <a:t>La </a:t>
            </a:r>
            <a:r>
              <a:rPr lang="es-ES" dirty="0"/>
              <a:t>minimización del número de defectos que llegan al software en fase de producción</a:t>
            </a:r>
            <a:r>
              <a:rPr lang="es-ES" dirty="0" smtClean="0"/>
              <a:t>.</a:t>
            </a:r>
          </a:p>
          <a:p>
            <a:pPr marL="285750" lvl="0" indent="-285750">
              <a:buFont typeface="Wingdings" panose="05000000000000000000" pitchFamily="2" charset="2"/>
              <a:buChar char="ü"/>
            </a:pPr>
            <a:r>
              <a:rPr lang="es-ES" dirty="0" smtClean="0"/>
              <a:t>La </a:t>
            </a:r>
            <a:r>
              <a:rPr lang="es-ES" dirty="0"/>
              <a:t>producción de software modular, altamente reutilizable y preparado para el cambio.</a:t>
            </a:r>
            <a:endParaRPr lang="es-PE" dirty="0"/>
          </a:p>
          <a:p>
            <a:r>
              <a:rPr lang="es-PE" dirty="0" smtClean="0">
                <a:solidFill>
                  <a:srgbClr val="FF0000"/>
                </a:solidFill>
              </a:rPr>
              <a:t> </a:t>
            </a:r>
          </a:p>
          <a:p>
            <a:endParaRPr lang="es-PE" dirty="0">
              <a:solidFill>
                <a:srgbClr val="FF0000"/>
              </a:solidFill>
            </a:endParaRPr>
          </a:p>
          <a:p>
            <a:r>
              <a:rPr lang="es-PE" dirty="0" smtClean="0">
                <a:solidFill>
                  <a:srgbClr val="FF0000"/>
                </a:solidFill>
              </a:rPr>
              <a:t>TDD </a:t>
            </a:r>
            <a:r>
              <a:rPr lang="es-PE" dirty="0">
                <a:solidFill>
                  <a:srgbClr val="FF0000"/>
                </a:solidFill>
              </a:rPr>
              <a:t>sigue un sencillo algoritmo de 3 </a:t>
            </a:r>
            <a:r>
              <a:rPr lang="es-PE" dirty="0" smtClean="0">
                <a:solidFill>
                  <a:srgbClr val="FF0000"/>
                </a:solidFill>
              </a:rPr>
              <a:t>pasos:</a:t>
            </a:r>
          </a:p>
          <a:p>
            <a:r>
              <a:rPr lang="es-PE" dirty="0"/>
              <a:t>	</a:t>
            </a:r>
          </a:p>
          <a:p>
            <a:pPr marL="342900" indent="-342900">
              <a:buAutoNum type="arabicPeriod"/>
            </a:pPr>
            <a:r>
              <a:rPr lang="es-PE" dirty="0" smtClean="0"/>
              <a:t>Escribir </a:t>
            </a:r>
            <a:r>
              <a:rPr lang="es-PE" dirty="0"/>
              <a:t>la especificación del requisito (el ejemplo, el test</a:t>
            </a:r>
            <a:r>
              <a:rPr lang="es-PE" dirty="0" smtClean="0"/>
              <a:t>).</a:t>
            </a:r>
          </a:p>
          <a:p>
            <a:pPr marL="342900" indent="-342900">
              <a:buAutoNum type="arabicPeriod" startAt="2"/>
            </a:pPr>
            <a:r>
              <a:rPr lang="es-PE" dirty="0" smtClean="0"/>
              <a:t>Implementar </a:t>
            </a:r>
            <a:r>
              <a:rPr lang="es-PE" dirty="0"/>
              <a:t>el código según dicho ejemplo</a:t>
            </a:r>
            <a:r>
              <a:rPr lang="es-PE" dirty="0" smtClean="0"/>
              <a:t>.</a:t>
            </a:r>
          </a:p>
          <a:p>
            <a:r>
              <a:rPr lang="es-PE" dirty="0" smtClean="0"/>
              <a:t>3.  </a:t>
            </a:r>
            <a:r>
              <a:rPr lang="es-PE" dirty="0" err="1" smtClean="0"/>
              <a:t>Refactorizar</a:t>
            </a:r>
            <a:r>
              <a:rPr lang="es-PE" dirty="0" smtClean="0"/>
              <a:t> </a:t>
            </a:r>
            <a:r>
              <a:rPr lang="es-PE" dirty="0"/>
              <a:t>para eliminar duplicidad y hacer </a:t>
            </a:r>
            <a:r>
              <a:rPr lang="es-PE" dirty="0" smtClean="0"/>
              <a:t>mejoras.</a:t>
            </a:r>
          </a:p>
          <a:p>
            <a:endParaRPr lang="es-PE" dirty="0" smtClean="0"/>
          </a:p>
          <a:p>
            <a:endParaRPr lang="es-PE" dirty="0" smtClean="0"/>
          </a:p>
          <a:p>
            <a:endParaRPr lang="es-PE" dirty="0" smtClean="0"/>
          </a:p>
          <a:p>
            <a:r>
              <a:rPr lang="es-PE" dirty="0" smtClean="0"/>
              <a:t>Una vez terminado los 3 pasos el algoritmo realizamos otra iteración completa, y así sucesivamente hasta que abarcamos el 100% de los requisitos.</a:t>
            </a:r>
          </a:p>
          <a:p>
            <a:r>
              <a:rPr lang="es-PE" dirty="0"/>
              <a:t>	</a:t>
            </a:r>
          </a:p>
          <a:p>
            <a:r>
              <a:rPr lang="es-PE" dirty="0"/>
              <a:t>	</a:t>
            </a:r>
          </a:p>
          <a:p>
            <a:r>
              <a:rPr lang="es-PE" dirty="0"/>
              <a:t>	</a:t>
            </a:r>
          </a:p>
        </p:txBody>
      </p:sp>
      <p:sp>
        <p:nvSpPr>
          <p:cNvPr id="7" name="Título 1"/>
          <p:cNvSpPr>
            <a:spLocks noGrp="1"/>
          </p:cNvSpPr>
          <p:nvPr>
            <p:ph type="title"/>
          </p:nvPr>
        </p:nvSpPr>
        <p:spPr>
          <a:xfrm>
            <a:off x="3360286" y="474526"/>
            <a:ext cx="6092807" cy="649357"/>
          </a:xfrm>
        </p:spPr>
        <p:txBody>
          <a:bodyPr vert="horz" lIns="91440" tIns="45720" rIns="91440" bIns="45720" rtlCol="0" anchor="t">
            <a:normAutofit fontScale="90000"/>
          </a:bodyPr>
          <a:lstStyle/>
          <a:p>
            <a:r>
              <a:rPr lang="en-US" b="1" dirty="0" smtClean="0">
                <a:solidFill>
                  <a:srgbClr val="C00000"/>
                </a:solidFill>
              </a:rPr>
              <a:t>Test </a:t>
            </a:r>
            <a:r>
              <a:rPr lang="en-US" b="1" dirty="0">
                <a:solidFill>
                  <a:srgbClr val="C00000"/>
                </a:solidFill>
              </a:rPr>
              <a:t>drive development (TDD)</a:t>
            </a:r>
            <a:endParaRPr lang="es-PE" b="1" dirty="0">
              <a:solidFill>
                <a:srgbClr val="C00000"/>
              </a:solidFill>
            </a:endParaRPr>
          </a:p>
        </p:txBody>
      </p:sp>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85001" y="2838015"/>
            <a:ext cx="3168001" cy="2481045"/>
          </a:xfrm>
          <a:prstGeom prst="rect">
            <a:avLst/>
          </a:prstGeom>
        </p:spPr>
      </p:pic>
    </p:spTree>
    <p:extLst>
      <p:ext uri="{BB962C8B-B14F-4D97-AF65-F5344CB8AC3E}">
        <p14:creationId xmlns:p14="http://schemas.microsoft.com/office/powerpoint/2010/main" val="11476994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sp>
        <p:nvSpPr>
          <p:cNvPr id="2" name="CuadroTexto 1"/>
          <p:cNvSpPr txBox="1"/>
          <p:nvPr/>
        </p:nvSpPr>
        <p:spPr>
          <a:xfrm>
            <a:off x="830361" y="1042975"/>
            <a:ext cx="10296985" cy="3416320"/>
          </a:xfrm>
          <a:prstGeom prst="rect">
            <a:avLst/>
          </a:prstGeom>
          <a:noFill/>
        </p:spPr>
        <p:txBody>
          <a:bodyPr wrap="square" rtlCol="0">
            <a:spAutoFit/>
          </a:bodyPr>
          <a:lstStyle/>
          <a:p>
            <a:r>
              <a:rPr lang="es-PE" dirty="0" smtClean="0">
                <a:solidFill>
                  <a:srgbClr val="FF0000"/>
                </a:solidFill>
              </a:rPr>
              <a:t>Ventajas</a:t>
            </a:r>
            <a:endParaRPr lang="es-PE" dirty="0">
              <a:solidFill>
                <a:srgbClr val="FF0000"/>
              </a:solidFill>
            </a:endParaRPr>
          </a:p>
          <a:p>
            <a:r>
              <a:rPr lang="es-PE" dirty="0"/>
              <a:t>	</a:t>
            </a:r>
          </a:p>
          <a:p>
            <a:r>
              <a:rPr lang="es-PE" dirty="0" smtClean="0"/>
              <a:t>Los </a:t>
            </a:r>
            <a:r>
              <a:rPr lang="es-PE" dirty="0"/>
              <a:t>programadores que usan TDD para un proyecto desde cero son raras las veces que necesitan usar un </a:t>
            </a:r>
            <a:r>
              <a:rPr lang="es-PE" dirty="0" err="1"/>
              <a:t>debbuger</a:t>
            </a:r>
            <a:r>
              <a:rPr lang="es-PE" dirty="0"/>
              <a:t>.</a:t>
            </a:r>
          </a:p>
          <a:p>
            <a:r>
              <a:rPr lang="es-PE" dirty="0"/>
              <a:t>	</a:t>
            </a:r>
          </a:p>
          <a:p>
            <a:pPr marL="285750" indent="-285750">
              <a:buFont typeface="Wingdings" panose="05000000000000000000" pitchFamily="2" charset="2"/>
              <a:buChar char="v"/>
            </a:pPr>
            <a:r>
              <a:rPr lang="es-PE" dirty="0" smtClean="0"/>
              <a:t>Ayuda </a:t>
            </a:r>
            <a:r>
              <a:rPr lang="es-PE" dirty="0"/>
              <a:t>a producir aplicaciones de más calidad y en menos tiempo.</a:t>
            </a:r>
          </a:p>
          <a:p>
            <a:r>
              <a:rPr lang="es-PE" dirty="0"/>
              <a:t>	</a:t>
            </a:r>
          </a:p>
          <a:p>
            <a:pPr marL="285750" indent="-285750">
              <a:buFont typeface="Wingdings" panose="05000000000000000000" pitchFamily="2" charset="2"/>
              <a:buChar char="v"/>
            </a:pPr>
            <a:r>
              <a:rPr lang="es-PE" dirty="0" smtClean="0"/>
              <a:t>Además </a:t>
            </a:r>
            <a:r>
              <a:rPr lang="es-PE" dirty="0"/>
              <a:t>de validar el cumplimiento de los requisitos, también puede guiar el diseño de un programa.</a:t>
            </a:r>
          </a:p>
          <a:p>
            <a:r>
              <a:rPr lang="es-PE" dirty="0"/>
              <a:t>	</a:t>
            </a:r>
          </a:p>
          <a:p>
            <a:pPr marL="285750" indent="-285750">
              <a:buFont typeface="Wingdings" panose="05000000000000000000" pitchFamily="2" charset="2"/>
              <a:buChar char="v"/>
            </a:pPr>
            <a:r>
              <a:rPr lang="es-PE" dirty="0" smtClean="0"/>
              <a:t>Cuando </a:t>
            </a:r>
            <a:r>
              <a:rPr lang="es-PE" dirty="0"/>
              <a:t>es bien utilizado, nos asegura que todo el código está cubierto por una prueba.</a:t>
            </a:r>
          </a:p>
          <a:p>
            <a:r>
              <a:rPr lang="es-PE" dirty="0"/>
              <a:t>	</a:t>
            </a:r>
          </a:p>
        </p:txBody>
      </p:sp>
      <p:sp>
        <p:nvSpPr>
          <p:cNvPr id="7" name="Título 1"/>
          <p:cNvSpPr>
            <a:spLocks noGrp="1"/>
          </p:cNvSpPr>
          <p:nvPr>
            <p:ph type="title"/>
          </p:nvPr>
        </p:nvSpPr>
        <p:spPr>
          <a:xfrm>
            <a:off x="3360286" y="474526"/>
            <a:ext cx="6092807" cy="649357"/>
          </a:xfrm>
        </p:spPr>
        <p:txBody>
          <a:bodyPr vert="horz" lIns="91440" tIns="45720" rIns="91440" bIns="45720" rtlCol="0" anchor="t">
            <a:normAutofit fontScale="90000"/>
          </a:bodyPr>
          <a:lstStyle/>
          <a:p>
            <a:r>
              <a:rPr lang="en-US" b="1" dirty="0" smtClean="0">
                <a:solidFill>
                  <a:srgbClr val="C00000"/>
                </a:solidFill>
              </a:rPr>
              <a:t>Test </a:t>
            </a:r>
            <a:r>
              <a:rPr lang="en-US" b="1" dirty="0">
                <a:solidFill>
                  <a:srgbClr val="C00000"/>
                </a:solidFill>
              </a:rPr>
              <a:t>drive development (TDD)</a:t>
            </a:r>
            <a:endParaRPr lang="es-PE" b="1" dirty="0">
              <a:solidFill>
                <a:srgbClr val="C00000"/>
              </a:solidFill>
            </a:endParaRPr>
          </a:p>
        </p:txBody>
      </p:sp>
    </p:spTree>
    <p:extLst>
      <p:ext uri="{BB962C8B-B14F-4D97-AF65-F5344CB8AC3E}">
        <p14:creationId xmlns:p14="http://schemas.microsoft.com/office/powerpoint/2010/main" val="6371914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sp>
        <p:nvSpPr>
          <p:cNvPr id="2" name="CuadroTexto 1"/>
          <p:cNvSpPr txBox="1"/>
          <p:nvPr/>
        </p:nvSpPr>
        <p:spPr>
          <a:xfrm>
            <a:off x="830361" y="1042975"/>
            <a:ext cx="10296985" cy="3970318"/>
          </a:xfrm>
          <a:prstGeom prst="rect">
            <a:avLst/>
          </a:prstGeom>
          <a:noFill/>
        </p:spPr>
        <p:txBody>
          <a:bodyPr wrap="square" rtlCol="0">
            <a:spAutoFit/>
          </a:bodyPr>
          <a:lstStyle/>
          <a:p>
            <a:endParaRPr lang="es-PE" dirty="0"/>
          </a:p>
          <a:p>
            <a:r>
              <a:rPr lang="es-PE" dirty="0" smtClean="0">
                <a:solidFill>
                  <a:srgbClr val="FF0000"/>
                </a:solidFill>
              </a:rPr>
              <a:t>Limitaciones</a:t>
            </a:r>
            <a:endParaRPr lang="es-PE" dirty="0">
              <a:solidFill>
                <a:srgbClr val="FF0000"/>
              </a:solidFill>
            </a:endParaRPr>
          </a:p>
          <a:p>
            <a:r>
              <a:rPr lang="es-PE" dirty="0"/>
              <a:t>	</a:t>
            </a:r>
          </a:p>
          <a:p>
            <a:r>
              <a:rPr lang="es-PE" dirty="0" smtClean="0"/>
              <a:t>El </a:t>
            </a:r>
            <a:r>
              <a:rPr lang="es-PE" dirty="0"/>
              <a:t>desarrollo guiado por pruebas requiere que las pruebas puedan automatizarse. Esto resulta complejo en los siguientes dominios:</a:t>
            </a:r>
          </a:p>
          <a:p>
            <a:r>
              <a:rPr lang="es-PE" dirty="0"/>
              <a:t>	</a:t>
            </a:r>
          </a:p>
          <a:p>
            <a:pPr marL="285750" indent="-285750">
              <a:buFont typeface="Wingdings" panose="05000000000000000000" pitchFamily="2" charset="2"/>
              <a:buChar char="v"/>
            </a:pPr>
            <a:r>
              <a:rPr lang="es-PE" dirty="0" smtClean="0"/>
              <a:t>Interfaces </a:t>
            </a:r>
            <a:r>
              <a:rPr lang="es-PE" dirty="0"/>
              <a:t>Gráfica de usuario (</a:t>
            </a:r>
            <a:r>
              <a:rPr lang="es-PE" dirty="0" err="1"/>
              <a:t>GUIs</a:t>
            </a:r>
            <a:r>
              <a:rPr lang="es-PE" dirty="0"/>
              <a:t>).</a:t>
            </a:r>
          </a:p>
          <a:p>
            <a:r>
              <a:rPr lang="es-PE" dirty="0"/>
              <a:t>	</a:t>
            </a:r>
          </a:p>
          <a:p>
            <a:pPr marL="285750" indent="-285750">
              <a:buFont typeface="Wingdings" panose="05000000000000000000" pitchFamily="2" charset="2"/>
              <a:buChar char="v"/>
            </a:pPr>
            <a:r>
              <a:rPr lang="es-PE" dirty="0" smtClean="0"/>
              <a:t>Objetos </a:t>
            </a:r>
            <a:r>
              <a:rPr lang="es-PE" dirty="0"/>
              <a:t>distribuidos, aunque los objetos simulados (</a:t>
            </a:r>
            <a:r>
              <a:rPr lang="es-PE" dirty="0" err="1"/>
              <a:t>MockObjects</a:t>
            </a:r>
            <a:r>
              <a:rPr lang="es-PE" dirty="0"/>
              <a:t>) pueden ayudar.</a:t>
            </a:r>
          </a:p>
          <a:p>
            <a:r>
              <a:rPr lang="es-PE" dirty="0"/>
              <a:t>	</a:t>
            </a:r>
          </a:p>
          <a:p>
            <a:pPr marL="285750" indent="-285750">
              <a:buFont typeface="Wingdings" panose="05000000000000000000" pitchFamily="2" charset="2"/>
              <a:buChar char="v"/>
            </a:pPr>
            <a:r>
              <a:rPr lang="es-PE" dirty="0" smtClean="0"/>
              <a:t>Bases </a:t>
            </a:r>
            <a:r>
              <a:rPr lang="es-PE" dirty="0"/>
              <a:t>de datos. Hacer pruebas de código que trabaja con base de datos es complejo porque requiere poner en la base de datos unos datos conocidos antes de hacer las pruebas. Todo esto hace que la prueba sea costosa de codificar.</a:t>
            </a:r>
          </a:p>
          <a:p>
            <a:r>
              <a:rPr lang="es-ES" dirty="0"/>
              <a:t> </a:t>
            </a:r>
            <a:endParaRPr lang="es-PE" dirty="0"/>
          </a:p>
        </p:txBody>
      </p:sp>
      <p:sp>
        <p:nvSpPr>
          <p:cNvPr id="7" name="Título 1"/>
          <p:cNvSpPr>
            <a:spLocks noGrp="1"/>
          </p:cNvSpPr>
          <p:nvPr>
            <p:ph type="title"/>
          </p:nvPr>
        </p:nvSpPr>
        <p:spPr>
          <a:xfrm>
            <a:off x="3360286" y="474526"/>
            <a:ext cx="6092807" cy="649357"/>
          </a:xfrm>
        </p:spPr>
        <p:txBody>
          <a:bodyPr vert="horz" lIns="91440" tIns="45720" rIns="91440" bIns="45720" rtlCol="0" anchor="t">
            <a:normAutofit fontScale="90000"/>
          </a:bodyPr>
          <a:lstStyle/>
          <a:p>
            <a:r>
              <a:rPr lang="en-US" b="1" dirty="0" smtClean="0">
                <a:solidFill>
                  <a:srgbClr val="C00000"/>
                </a:solidFill>
              </a:rPr>
              <a:t>Test </a:t>
            </a:r>
            <a:r>
              <a:rPr lang="en-US" b="1" dirty="0">
                <a:solidFill>
                  <a:srgbClr val="C00000"/>
                </a:solidFill>
              </a:rPr>
              <a:t>drive development (TDD)</a:t>
            </a:r>
            <a:endParaRPr lang="es-PE" b="1" dirty="0">
              <a:solidFill>
                <a:srgbClr val="C00000"/>
              </a:solidFill>
            </a:endParaRPr>
          </a:p>
        </p:txBody>
      </p:sp>
    </p:spTree>
    <p:extLst>
      <p:ext uri="{BB962C8B-B14F-4D97-AF65-F5344CB8AC3E}">
        <p14:creationId xmlns:p14="http://schemas.microsoft.com/office/powerpoint/2010/main" val="7762920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sp>
        <p:nvSpPr>
          <p:cNvPr id="2" name="CuadroTexto 1"/>
          <p:cNvSpPr txBox="1"/>
          <p:nvPr/>
        </p:nvSpPr>
        <p:spPr>
          <a:xfrm>
            <a:off x="907634" y="1204792"/>
            <a:ext cx="9746673" cy="4801314"/>
          </a:xfrm>
          <a:prstGeom prst="rect">
            <a:avLst/>
          </a:prstGeom>
          <a:noFill/>
        </p:spPr>
        <p:txBody>
          <a:bodyPr wrap="square" rtlCol="0">
            <a:spAutoFit/>
          </a:bodyPr>
          <a:lstStyle/>
          <a:p>
            <a:r>
              <a:rPr lang="es-PE" dirty="0">
                <a:solidFill>
                  <a:srgbClr val="FF0000"/>
                </a:solidFill>
              </a:rPr>
              <a:t> ¿Que es un </a:t>
            </a:r>
            <a:r>
              <a:rPr lang="es-PE" dirty="0" err="1">
                <a:solidFill>
                  <a:srgbClr val="FF0000"/>
                </a:solidFill>
              </a:rPr>
              <a:t>Mock</a:t>
            </a:r>
            <a:r>
              <a:rPr lang="es-PE" dirty="0">
                <a:solidFill>
                  <a:srgbClr val="FF0000"/>
                </a:solidFill>
              </a:rPr>
              <a:t>? </a:t>
            </a:r>
            <a:endParaRPr lang="es-PE" dirty="0" smtClean="0">
              <a:solidFill>
                <a:srgbClr val="FF0000"/>
              </a:solidFill>
            </a:endParaRPr>
          </a:p>
          <a:p>
            <a:endParaRPr lang="es-PE" dirty="0">
              <a:solidFill>
                <a:srgbClr val="FF0000"/>
              </a:solidFill>
            </a:endParaRPr>
          </a:p>
          <a:p>
            <a:r>
              <a:rPr lang="es-PE" dirty="0"/>
              <a:t>Un </a:t>
            </a:r>
            <a:r>
              <a:rPr lang="es-PE" dirty="0" err="1"/>
              <a:t>Mock</a:t>
            </a:r>
            <a:r>
              <a:rPr lang="es-PE" dirty="0"/>
              <a:t> es solo un objeto de prueba. (simple o complejo de acuerdo a cada caso particular</a:t>
            </a:r>
            <a:r>
              <a:rPr lang="es-PE" dirty="0" smtClean="0"/>
              <a:t>).</a:t>
            </a:r>
          </a:p>
          <a:p>
            <a:endParaRPr lang="es-PE" dirty="0" smtClean="0"/>
          </a:p>
          <a:p>
            <a:r>
              <a:rPr lang="es-ES" dirty="0"/>
              <a:t>En casos de ejemplos muy sencillos, en los que el método a probar recibe todos los datos de entrada necesarios mediante parámetros, se tiene controlados los escenarios de pruebas. Sin embargo, en una aplicación real en la mayoría de los casos el comportamiento de los métodos no dependerá únicamente de los parámetros de entrada, sino que también dependerá de otros datos, como por ejemplo datos almacenados en una base de datos, o datos a los que se accede a través de la red. </a:t>
            </a:r>
            <a:endParaRPr lang="es-ES" dirty="0" smtClean="0"/>
          </a:p>
          <a:p>
            <a:endParaRPr lang="es-PE" dirty="0"/>
          </a:p>
          <a:p>
            <a:r>
              <a:rPr lang="es-PE" dirty="0"/>
              <a:t>En la Programación Orientada a Objetos (POO) se llaman </a:t>
            </a:r>
            <a:r>
              <a:rPr lang="es-PE" b="1" dirty="0" err="1"/>
              <a:t>Mock</a:t>
            </a:r>
            <a:r>
              <a:rPr lang="es-PE" b="1" dirty="0"/>
              <a:t> </a:t>
            </a:r>
            <a:r>
              <a:rPr lang="es-PE" dirty="0"/>
              <a:t>a los objetos que imitan el comportamiento de objetos reales de una forma controlada. Se usan para probar a otros objetos en test unitarios que esperan mensajes de una clase en particular para sus métodos, al igual que los diseñadores de autos usan un </a:t>
            </a:r>
            <a:r>
              <a:rPr lang="es-PE" dirty="0" err="1"/>
              <a:t>crash</a:t>
            </a:r>
            <a:r>
              <a:rPr lang="es-PE" dirty="0"/>
              <a:t> </a:t>
            </a:r>
            <a:r>
              <a:rPr lang="es-PE" dirty="0" err="1"/>
              <a:t>dummy</a:t>
            </a:r>
            <a:r>
              <a:rPr lang="es-PE" dirty="0"/>
              <a:t> cuando simulan un accidente.</a:t>
            </a:r>
            <a:endParaRPr lang="es-ES" dirty="0" smtClean="0"/>
          </a:p>
          <a:p>
            <a:r>
              <a:rPr lang="es-ES" dirty="0"/>
              <a:t> </a:t>
            </a:r>
            <a:endParaRPr lang="es-PE" dirty="0"/>
          </a:p>
        </p:txBody>
      </p:sp>
      <p:sp>
        <p:nvSpPr>
          <p:cNvPr id="7" name="Título 1"/>
          <p:cNvSpPr>
            <a:spLocks noGrp="1"/>
          </p:cNvSpPr>
          <p:nvPr>
            <p:ph type="title"/>
          </p:nvPr>
        </p:nvSpPr>
        <p:spPr>
          <a:xfrm>
            <a:off x="4094382" y="196808"/>
            <a:ext cx="2898700" cy="649357"/>
          </a:xfrm>
        </p:spPr>
        <p:txBody>
          <a:bodyPr vert="horz" lIns="91440" tIns="45720" rIns="91440" bIns="45720" rtlCol="0" anchor="t">
            <a:normAutofit fontScale="97500"/>
          </a:bodyPr>
          <a:lstStyle/>
          <a:p>
            <a:r>
              <a:rPr lang="es-PE" b="1" dirty="0" err="1">
                <a:solidFill>
                  <a:srgbClr val="C00000"/>
                </a:solidFill>
              </a:rPr>
              <a:t>Mock</a:t>
            </a:r>
            <a:r>
              <a:rPr lang="es-PE" b="1" dirty="0">
                <a:solidFill>
                  <a:srgbClr val="C00000"/>
                </a:solidFill>
              </a:rPr>
              <a:t> </a:t>
            </a:r>
            <a:r>
              <a:rPr lang="es-PE" b="1" dirty="0" err="1">
                <a:solidFill>
                  <a:srgbClr val="C00000"/>
                </a:solidFill>
              </a:rPr>
              <a:t>objects</a:t>
            </a:r>
            <a:endParaRPr lang="es-PE" b="1" dirty="0">
              <a:solidFill>
                <a:srgbClr val="C00000"/>
              </a:solidFill>
            </a:endParaRPr>
          </a:p>
        </p:txBody>
      </p:sp>
    </p:spTree>
    <p:extLst>
      <p:ext uri="{BB962C8B-B14F-4D97-AF65-F5344CB8AC3E}">
        <p14:creationId xmlns:p14="http://schemas.microsoft.com/office/powerpoint/2010/main" val="8663827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59.png"/>
          <p:cNvPicPr/>
          <p:nvPr/>
        </p:nvPicPr>
        <p:blipFill>
          <a:blip r:embed="rId2"/>
          <a:srcRect/>
          <a:stretch>
            <a:fillRect/>
          </a:stretch>
        </p:blipFill>
        <p:spPr>
          <a:xfrm>
            <a:off x="0" y="0"/>
            <a:ext cx="3191264" cy="1042975"/>
          </a:xfrm>
          <a:prstGeom prst="rect">
            <a:avLst/>
          </a:prstGeom>
          <a:ln/>
        </p:spPr>
      </p:pic>
      <p:sp>
        <p:nvSpPr>
          <p:cNvPr id="2" name="CuadroTexto 1"/>
          <p:cNvSpPr txBox="1"/>
          <p:nvPr/>
        </p:nvSpPr>
        <p:spPr>
          <a:xfrm>
            <a:off x="907634" y="1204792"/>
            <a:ext cx="9746673" cy="3693319"/>
          </a:xfrm>
          <a:prstGeom prst="rect">
            <a:avLst/>
          </a:prstGeom>
          <a:noFill/>
        </p:spPr>
        <p:txBody>
          <a:bodyPr wrap="square" rtlCol="0">
            <a:spAutoFit/>
          </a:bodyPr>
          <a:lstStyle/>
          <a:p>
            <a:r>
              <a:rPr lang="es-ES" dirty="0" smtClean="0"/>
              <a:t>Si </a:t>
            </a:r>
            <a:r>
              <a:rPr lang="es-ES" dirty="0"/>
              <a:t>estamos trabajando en </a:t>
            </a:r>
            <a:r>
              <a:rPr lang="es-ES" dirty="0" smtClean="0"/>
              <a:t>equipo, mucho </a:t>
            </a:r>
            <a:r>
              <a:rPr lang="es-ES" dirty="0"/>
              <a:t>de nuestro código impacta a otras personas y viceversa, de todo este "proyecto/s" y muchas veces nos codeamos con cosas que presumimos se van a desarrollar más adelante, debido a la complejidad de la aplicación o por su diseño. Para paliar un poco estas situaciones se suele utilizar una estrategia con “</a:t>
            </a:r>
            <a:r>
              <a:rPr lang="es-ES" dirty="0" err="1"/>
              <a:t>Mock</a:t>
            </a:r>
            <a:r>
              <a:rPr lang="es-ES" dirty="0"/>
              <a:t> </a:t>
            </a:r>
            <a:r>
              <a:rPr lang="es-ES" dirty="0" err="1"/>
              <a:t>objects</a:t>
            </a:r>
            <a:r>
              <a:rPr lang="es-ES" dirty="0"/>
              <a:t>” u objetos simulados.</a:t>
            </a:r>
            <a:endParaRPr lang="es-PE" dirty="0"/>
          </a:p>
          <a:p>
            <a:r>
              <a:rPr lang="es-ES" dirty="0"/>
              <a:t> </a:t>
            </a:r>
            <a:endParaRPr lang="es-PE" dirty="0"/>
          </a:p>
          <a:p>
            <a:r>
              <a:rPr lang="es-ES" dirty="0"/>
              <a:t>Esta estrategia consiste en generar objetos que cumplan con la interfaz que necesitemos pero sin implementación. Para realizar este cometido existen </a:t>
            </a:r>
            <a:r>
              <a:rPr lang="es-ES" dirty="0" smtClean="0"/>
              <a:t>varias </a:t>
            </a:r>
            <a:r>
              <a:rPr lang="es-ES" dirty="0"/>
              <a:t>librerías en java. Algunas de ellas son</a:t>
            </a:r>
            <a:r>
              <a:rPr lang="es-ES" dirty="0" smtClean="0"/>
              <a:t>:</a:t>
            </a:r>
          </a:p>
          <a:p>
            <a:endParaRPr lang="es-PE" dirty="0"/>
          </a:p>
          <a:p>
            <a:pPr lvl="0"/>
            <a:r>
              <a:rPr lang="en-US" dirty="0" err="1"/>
              <a:t>jMock</a:t>
            </a:r>
            <a:r>
              <a:rPr lang="en-US" dirty="0"/>
              <a:t> – </a:t>
            </a:r>
            <a:r>
              <a:rPr lang="en-US" dirty="0">
                <a:hlinkClick r:id="rId3"/>
              </a:rPr>
              <a:t>http://www.jmock.org/</a:t>
            </a:r>
            <a:endParaRPr lang="es-PE" dirty="0"/>
          </a:p>
          <a:p>
            <a:pPr lvl="0"/>
            <a:r>
              <a:rPr lang="en-US" dirty="0" err="1"/>
              <a:t>Mockito</a:t>
            </a:r>
            <a:r>
              <a:rPr lang="en-US" dirty="0"/>
              <a:t> – </a:t>
            </a:r>
            <a:r>
              <a:rPr lang="en-US" dirty="0">
                <a:hlinkClick r:id="rId4"/>
              </a:rPr>
              <a:t>https://code.google.com/p/mockito/</a:t>
            </a:r>
            <a:endParaRPr lang="es-PE" dirty="0"/>
          </a:p>
          <a:p>
            <a:pPr lvl="0"/>
            <a:r>
              <a:rPr lang="es-ES" dirty="0" err="1"/>
              <a:t>EasyMock</a:t>
            </a:r>
            <a:r>
              <a:rPr lang="es-ES" dirty="0"/>
              <a:t> – </a:t>
            </a:r>
            <a:r>
              <a:rPr lang="es-ES" dirty="0">
                <a:hlinkClick r:id="rId5"/>
              </a:rPr>
              <a:t>http://easymock.org/</a:t>
            </a:r>
            <a:endParaRPr lang="es-PE" dirty="0"/>
          </a:p>
        </p:txBody>
      </p:sp>
      <p:sp>
        <p:nvSpPr>
          <p:cNvPr id="7" name="Título 1"/>
          <p:cNvSpPr>
            <a:spLocks noGrp="1"/>
          </p:cNvSpPr>
          <p:nvPr>
            <p:ph type="title"/>
          </p:nvPr>
        </p:nvSpPr>
        <p:spPr>
          <a:xfrm>
            <a:off x="4094382" y="196808"/>
            <a:ext cx="2898700" cy="649357"/>
          </a:xfrm>
        </p:spPr>
        <p:txBody>
          <a:bodyPr vert="horz" lIns="91440" tIns="45720" rIns="91440" bIns="45720" rtlCol="0" anchor="t">
            <a:normAutofit fontScale="97500"/>
          </a:bodyPr>
          <a:lstStyle/>
          <a:p>
            <a:r>
              <a:rPr lang="es-PE" b="1" dirty="0" err="1">
                <a:solidFill>
                  <a:srgbClr val="C00000"/>
                </a:solidFill>
              </a:rPr>
              <a:t>Mock</a:t>
            </a:r>
            <a:r>
              <a:rPr lang="es-PE" b="1" dirty="0">
                <a:solidFill>
                  <a:srgbClr val="C00000"/>
                </a:solidFill>
              </a:rPr>
              <a:t> </a:t>
            </a:r>
            <a:r>
              <a:rPr lang="es-PE" b="1" dirty="0" err="1">
                <a:solidFill>
                  <a:srgbClr val="C00000"/>
                </a:solidFill>
              </a:rPr>
              <a:t>objects</a:t>
            </a:r>
            <a:endParaRPr lang="es-PE" b="1" dirty="0">
              <a:solidFill>
                <a:srgbClr val="C00000"/>
              </a:solidFill>
            </a:endParaRPr>
          </a:p>
        </p:txBody>
      </p:sp>
      <p:pic>
        <p:nvPicPr>
          <p:cNvPr id="4" name="Imagen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22852" y="3476497"/>
            <a:ext cx="4670886" cy="3166861"/>
          </a:xfrm>
          <a:prstGeom prst="rect">
            <a:avLst/>
          </a:prstGeom>
        </p:spPr>
      </p:pic>
    </p:spTree>
    <p:extLst>
      <p:ext uri="{BB962C8B-B14F-4D97-AF65-F5344CB8AC3E}">
        <p14:creationId xmlns:p14="http://schemas.microsoft.com/office/powerpoint/2010/main" val="41466878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845000" y="217909"/>
            <a:ext cx="2898700" cy="649357"/>
          </a:xfrm>
        </p:spPr>
        <p:txBody>
          <a:bodyPr vert="horz" lIns="91440" tIns="45720" rIns="91440" bIns="45720" rtlCol="0" anchor="t">
            <a:normAutofit fontScale="97500"/>
          </a:bodyPr>
          <a:lstStyle/>
          <a:p>
            <a:r>
              <a:rPr lang="es-PE" b="1" dirty="0" smtClean="0">
                <a:solidFill>
                  <a:srgbClr val="C00000"/>
                </a:solidFill>
              </a:rPr>
              <a:t>Caso de Uso</a:t>
            </a:r>
            <a:endParaRPr lang="es-PE" b="1" dirty="0">
              <a:solidFill>
                <a:srgbClr val="C00000"/>
              </a:solidFill>
            </a:endParaRPr>
          </a:p>
        </p:txBody>
      </p:sp>
      <p:pic>
        <p:nvPicPr>
          <p:cNvPr id="5" name="image59.png"/>
          <p:cNvPicPr/>
          <p:nvPr/>
        </p:nvPicPr>
        <p:blipFill>
          <a:blip r:embed="rId2"/>
          <a:srcRect/>
          <a:stretch>
            <a:fillRect/>
          </a:stretch>
        </p:blipFill>
        <p:spPr>
          <a:xfrm>
            <a:off x="553791" y="5740992"/>
            <a:ext cx="3191264" cy="1042975"/>
          </a:xfrm>
          <a:prstGeom prst="rect">
            <a:avLst/>
          </a:prstGeom>
          <a:ln/>
        </p:spPr>
      </p:pic>
      <p:sp>
        <p:nvSpPr>
          <p:cNvPr id="6" name="CuadroTexto 5"/>
          <p:cNvSpPr txBox="1"/>
          <p:nvPr/>
        </p:nvSpPr>
        <p:spPr>
          <a:xfrm>
            <a:off x="851319" y="972589"/>
            <a:ext cx="9746673" cy="369332"/>
          </a:xfrm>
          <a:prstGeom prst="rect">
            <a:avLst/>
          </a:prstGeom>
          <a:noFill/>
        </p:spPr>
        <p:txBody>
          <a:bodyPr wrap="square" rtlCol="0">
            <a:spAutoFit/>
          </a:bodyPr>
          <a:lstStyle/>
          <a:p>
            <a:r>
              <a:rPr lang="es-PE" dirty="0"/>
              <a:t>Dentro de los elementos que tiene incorporado el IDE </a:t>
            </a:r>
            <a:r>
              <a:rPr lang="es-PE" dirty="0" err="1"/>
              <a:t>NetBeans</a:t>
            </a:r>
            <a:r>
              <a:rPr lang="es-PE" dirty="0"/>
              <a:t>, se encuentra </a:t>
            </a:r>
            <a:r>
              <a:rPr lang="es-PE" dirty="0" err="1"/>
              <a:t>JUnit</a:t>
            </a:r>
            <a:r>
              <a:rPr lang="es-PE" dirty="0"/>
              <a:t>. </a:t>
            </a:r>
          </a:p>
        </p:txBody>
      </p:sp>
      <p:pic>
        <p:nvPicPr>
          <p:cNvPr id="7" name="Imagen 6"/>
          <p:cNvPicPr>
            <a:picLocks noChangeAspect="1"/>
          </p:cNvPicPr>
          <p:nvPr/>
        </p:nvPicPr>
        <p:blipFill rotWithShape="1">
          <a:blip r:embed="rId3"/>
          <a:srcRect r="427" b="5503"/>
          <a:stretch/>
        </p:blipFill>
        <p:spPr>
          <a:xfrm>
            <a:off x="1613213" y="1447244"/>
            <a:ext cx="8222884" cy="4387412"/>
          </a:xfrm>
          <a:prstGeom prst="rect">
            <a:avLst/>
          </a:prstGeom>
        </p:spPr>
      </p:pic>
    </p:spTree>
    <p:extLst>
      <p:ext uri="{BB962C8B-B14F-4D97-AF65-F5344CB8AC3E}">
        <p14:creationId xmlns:p14="http://schemas.microsoft.com/office/powerpoint/2010/main" val="121459818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845000" y="217909"/>
            <a:ext cx="2898700" cy="649357"/>
          </a:xfrm>
        </p:spPr>
        <p:txBody>
          <a:bodyPr vert="horz" lIns="91440" tIns="45720" rIns="91440" bIns="45720" rtlCol="0" anchor="t">
            <a:normAutofit fontScale="97500"/>
          </a:bodyPr>
          <a:lstStyle/>
          <a:p>
            <a:r>
              <a:rPr lang="es-PE" b="1" dirty="0" smtClean="0">
                <a:solidFill>
                  <a:srgbClr val="C00000"/>
                </a:solidFill>
              </a:rPr>
              <a:t>Caso de Uso</a:t>
            </a:r>
            <a:endParaRPr lang="es-PE" b="1" dirty="0">
              <a:solidFill>
                <a:srgbClr val="C00000"/>
              </a:solidFill>
            </a:endParaRPr>
          </a:p>
        </p:txBody>
      </p:sp>
      <p:pic>
        <p:nvPicPr>
          <p:cNvPr id="5" name="image59.png"/>
          <p:cNvPicPr/>
          <p:nvPr/>
        </p:nvPicPr>
        <p:blipFill>
          <a:blip r:embed="rId2"/>
          <a:srcRect/>
          <a:stretch>
            <a:fillRect/>
          </a:stretch>
        </p:blipFill>
        <p:spPr>
          <a:xfrm>
            <a:off x="553791" y="5740992"/>
            <a:ext cx="3191264" cy="1042975"/>
          </a:xfrm>
          <a:prstGeom prst="rect">
            <a:avLst/>
          </a:prstGeom>
          <a:ln/>
        </p:spPr>
      </p:pic>
      <p:sp>
        <p:nvSpPr>
          <p:cNvPr id="6" name="CuadroTexto 5"/>
          <p:cNvSpPr txBox="1"/>
          <p:nvPr/>
        </p:nvSpPr>
        <p:spPr>
          <a:xfrm>
            <a:off x="851319" y="972589"/>
            <a:ext cx="9746673" cy="369332"/>
          </a:xfrm>
          <a:prstGeom prst="rect">
            <a:avLst/>
          </a:prstGeom>
          <a:noFill/>
        </p:spPr>
        <p:txBody>
          <a:bodyPr wrap="square" rtlCol="0">
            <a:spAutoFit/>
          </a:bodyPr>
          <a:lstStyle/>
          <a:p>
            <a:r>
              <a:rPr lang="es-PE" dirty="0"/>
              <a:t>Dentro de los elementos que tiene incorporado el IDE </a:t>
            </a:r>
            <a:r>
              <a:rPr lang="es-PE" dirty="0" err="1"/>
              <a:t>NetBeans</a:t>
            </a:r>
            <a:r>
              <a:rPr lang="es-PE" dirty="0"/>
              <a:t>, se encuentra </a:t>
            </a:r>
            <a:r>
              <a:rPr lang="es-PE" dirty="0" err="1"/>
              <a:t>JUnit</a:t>
            </a:r>
            <a:r>
              <a:rPr lang="es-PE" dirty="0"/>
              <a:t>. </a:t>
            </a:r>
          </a:p>
        </p:txBody>
      </p:sp>
      <p:pic>
        <p:nvPicPr>
          <p:cNvPr id="3" name="Imagen 2"/>
          <p:cNvPicPr>
            <a:picLocks noChangeAspect="1"/>
          </p:cNvPicPr>
          <p:nvPr/>
        </p:nvPicPr>
        <p:blipFill>
          <a:blip r:embed="rId3"/>
          <a:stretch>
            <a:fillRect/>
          </a:stretch>
        </p:blipFill>
        <p:spPr>
          <a:xfrm>
            <a:off x="2859110" y="1613533"/>
            <a:ext cx="5999877" cy="4127459"/>
          </a:xfrm>
          <a:prstGeom prst="rect">
            <a:avLst/>
          </a:prstGeom>
        </p:spPr>
      </p:pic>
    </p:spTree>
    <p:extLst>
      <p:ext uri="{BB962C8B-B14F-4D97-AF65-F5344CB8AC3E}">
        <p14:creationId xmlns:p14="http://schemas.microsoft.com/office/powerpoint/2010/main" val="38769621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845000" y="217909"/>
            <a:ext cx="2898700" cy="649357"/>
          </a:xfrm>
        </p:spPr>
        <p:txBody>
          <a:bodyPr vert="horz" lIns="91440" tIns="45720" rIns="91440" bIns="45720" rtlCol="0" anchor="t">
            <a:normAutofit fontScale="97500"/>
          </a:bodyPr>
          <a:lstStyle/>
          <a:p>
            <a:r>
              <a:rPr lang="es-PE" b="1" dirty="0" smtClean="0">
                <a:solidFill>
                  <a:srgbClr val="C00000"/>
                </a:solidFill>
              </a:rPr>
              <a:t>Caso de Uso</a:t>
            </a:r>
            <a:endParaRPr lang="es-PE" b="1" dirty="0">
              <a:solidFill>
                <a:srgbClr val="C00000"/>
              </a:solidFill>
            </a:endParaRPr>
          </a:p>
        </p:txBody>
      </p:sp>
      <p:pic>
        <p:nvPicPr>
          <p:cNvPr id="5" name="image59.png"/>
          <p:cNvPicPr/>
          <p:nvPr/>
        </p:nvPicPr>
        <p:blipFill>
          <a:blip r:embed="rId2"/>
          <a:srcRect/>
          <a:stretch>
            <a:fillRect/>
          </a:stretch>
        </p:blipFill>
        <p:spPr>
          <a:xfrm>
            <a:off x="553791" y="5740992"/>
            <a:ext cx="3191264" cy="1042975"/>
          </a:xfrm>
          <a:prstGeom prst="rect">
            <a:avLst/>
          </a:prstGeom>
          <a:ln/>
        </p:spPr>
      </p:pic>
      <p:sp>
        <p:nvSpPr>
          <p:cNvPr id="6" name="CuadroTexto 5"/>
          <p:cNvSpPr txBox="1"/>
          <p:nvPr/>
        </p:nvSpPr>
        <p:spPr>
          <a:xfrm>
            <a:off x="851319" y="972589"/>
            <a:ext cx="9746673" cy="4247317"/>
          </a:xfrm>
          <a:prstGeom prst="rect">
            <a:avLst/>
          </a:prstGeom>
          <a:noFill/>
        </p:spPr>
        <p:txBody>
          <a:bodyPr wrap="square" rtlCol="0">
            <a:spAutoFit/>
          </a:bodyPr>
          <a:lstStyle/>
          <a:p>
            <a:r>
              <a:rPr lang="es-ES" b="1" dirty="0" smtClean="0"/>
              <a:t>Aserciones </a:t>
            </a:r>
            <a:r>
              <a:rPr lang="es-ES" b="1" dirty="0"/>
              <a:t>de </a:t>
            </a:r>
            <a:r>
              <a:rPr lang="es-ES" b="1" dirty="0" err="1"/>
              <a:t>JUnit</a:t>
            </a:r>
            <a:endParaRPr lang="es-PE" dirty="0"/>
          </a:p>
          <a:p>
            <a:r>
              <a:rPr lang="es-ES" dirty="0"/>
              <a:t> </a:t>
            </a:r>
            <a:endParaRPr lang="es-PE" dirty="0"/>
          </a:p>
          <a:p>
            <a:r>
              <a:rPr lang="es-ES" dirty="0"/>
              <a:t>Las aserciones se utilizan para evaluar si el valor retornado por el método es el esperado.</a:t>
            </a:r>
            <a:endParaRPr lang="es-PE" dirty="0"/>
          </a:p>
          <a:p>
            <a:r>
              <a:rPr lang="es-ES" dirty="0"/>
              <a:t>A continuación se presenta una tabla describiendo las aserciones de </a:t>
            </a:r>
            <a:r>
              <a:rPr lang="es-ES" dirty="0" err="1"/>
              <a:t>JUnit</a:t>
            </a:r>
            <a:r>
              <a:rPr lang="es-ES" dirty="0"/>
              <a:t>:</a:t>
            </a:r>
            <a:endParaRPr lang="es-PE" dirty="0"/>
          </a:p>
          <a:p>
            <a:r>
              <a:rPr lang="es-ES" dirty="0"/>
              <a:t> </a:t>
            </a:r>
            <a:endParaRPr lang="es-PE" dirty="0"/>
          </a:p>
          <a:p>
            <a:r>
              <a:rPr lang="es-ES" dirty="0"/>
              <a:t> </a:t>
            </a:r>
            <a:endParaRPr lang="es-PE" dirty="0"/>
          </a:p>
          <a:p>
            <a:pPr lvl="0"/>
            <a:r>
              <a:rPr lang="es-ES" dirty="0" err="1"/>
              <a:t>assertEquals</a:t>
            </a:r>
            <a:r>
              <a:rPr lang="es-ES" dirty="0"/>
              <a:t>: Evalúa si dos objetos pasados por parámetro son iguales.</a:t>
            </a:r>
            <a:endParaRPr lang="es-PE" dirty="0"/>
          </a:p>
          <a:p>
            <a:pPr lvl="0"/>
            <a:r>
              <a:rPr lang="es-ES" dirty="0" err="1"/>
              <a:t>assertFalse</a:t>
            </a:r>
            <a:r>
              <a:rPr lang="es-ES" dirty="0"/>
              <a:t>: Evalúa si la condición pasada es false.</a:t>
            </a:r>
            <a:endParaRPr lang="es-PE" dirty="0"/>
          </a:p>
          <a:p>
            <a:pPr lvl="0"/>
            <a:r>
              <a:rPr lang="es-ES" dirty="0" err="1"/>
              <a:t>assertNotNull</a:t>
            </a:r>
            <a:r>
              <a:rPr lang="es-ES" dirty="0"/>
              <a:t>: Comprueba que la condición no sea nula.</a:t>
            </a:r>
            <a:endParaRPr lang="es-PE" dirty="0"/>
          </a:p>
          <a:p>
            <a:pPr lvl="0"/>
            <a:r>
              <a:rPr lang="es-ES" dirty="0" err="1"/>
              <a:t>assertNotSame</a:t>
            </a:r>
            <a:r>
              <a:rPr lang="es-ES" dirty="0"/>
              <a:t>: Comprueba que dos objetos no sean la misma instancia.</a:t>
            </a:r>
            <a:endParaRPr lang="es-PE" dirty="0"/>
          </a:p>
          <a:p>
            <a:pPr lvl="0"/>
            <a:r>
              <a:rPr lang="es-ES" dirty="0" err="1"/>
              <a:t>assertNull</a:t>
            </a:r>
            <a:r>
              <a:rPr lang="es-ES" dirty="0"/>
              <a:t>: Comprueba si un objeto es nulo.</a:t>
            </a:r>
            <a:endParaRPr lang="es-PE" dirty="0"/>
          </a:p>
          <a:p>
            <a:pPr lvl="0"/>
            <a:r>
              <a:rPr lang="en-US" dirty="0" err="1"/>
              <a:t>assertSame</a:t>
            </a:r>
            <a:r>
              <a:rPr lang="en-US" dirty="0"/>
              <a:t>: </a:t>
            </a:r>
            <a:r>
              <a:rPr lang="en-US" dirty="0" err="1"/>
              <a:t>Opuesto</a:t>
            </a:r>
            <a:r>
              <a:rPr lang="en-US" dirty="0"/>
              <a:t> a </a:t>
            </a:r>
            <a:r>
              <a:rPr lang="en-US" dirty="0" err="1"/>
              <a:t>assertNotSame</a:t>
            </a:r>
            <a:r>
              <a:rPr lang="en-US" dirty="0"/>
              <a:t>.</a:t>
            </a:r>
            <a:endParaRPr lang="es-PE" dirty="0"/>
          </a:p>
          <a:p>
            <a:pPr lvl="0"/>
            <a:r>
              <a:rPr lang="en-US" dirty="0" err="1"/>
              <a:t>assertTrue</a:t>
            </a:r>
            <a:r>
              <a:rPr lang="en-US" dirty="0"/>
              <a:t>: </a:t>
            </a:r>
            <a:r>
              <a:rPr lang="en-US" dirty="0" err="1"/>
              <a:t>Opuesto</a:t>
            </a:r>
            <a:r>
              <a:rPr lang="en-US" dirty="0"/>
              <a:t> a </a:t>
            </a:r>
            <a:r>
              <a:rPr lang="en-US" dirty="0" err="1"/>
              <a:t>assertFalse</a:t>
            </a:r>
            <a:r>
              <a:rPr lang="en-US" dirty="0"/>
              <a:t>.</a:t>
            </a:r>
            <a:endParaRPr lang="es-PE" dirty="0"/>
          </a:p>
          <a:p>
            <a:pPr lvl="0"/>
            <a:r>
              <a:rPr lang="es-ES" dirty="0" err="1"/>
              <a:t>fail</a:t>
            </a:r>
            <a:r>
              <a:rPr lang="es-ES" dirty="0"/>
              <a:t>: Útil para detectar si estamos en un sitio del programa donde no deberíamos estar.</a:t>
            </a:r>
            <a:endParaRPr lang="es-PE" dirty="0"/>
          </a:p>
          <a:p>
            <a:r>
              <a:rPr lang="es-PE" dirty="0" smtClean="0"/>
              <a:t> </a:t>
            </a:r>
            <a:endParaRPr lang="es-PE" dirty="0"/>
          </a:p>
        </p:txBody>
      </p:sp>
    </p:spTree>
    <p:extLst>
      <p:ext uri="{BB962C8B-B14F-4D97-AF65-F5344CB8AC3E}">
        <p14:creationId xmlns:p14="http://schemas.microsoft.com/office/powerpoint/2010/main" val="40986801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141214" y="104292"/>
            <a:ext cx="2898700" cy="649357"/>
          </a:xfrm>
        </p:spPr>
        <p:txBody>
          <a:bodyPr vert="horz" lIns="91440" tIns="45720" rIns="91440" bIns="45720" rtlCol="0" anchor="t">
            <a:normAutofit fontScale="97500"/>
          </a:bodyPr>
          <a:lstStyle/>
          <a:p>
            <a:r>
              <a:rPr lang="es-PE" b="1" dirty="0" smtClean="0">
                <a:solidFill>
                  <a:srgbClr val="C00000"/>
                </a:solidFill>
              </a:rPr>
              <a:t>Caso de Uso</a:t>
            </a:r>
            <a:endParaRPr lang="es-PE" b="1" dirty="0">
              <a:solidFill>
                <a:srgbClr val="C00000"/>
              </a:solidFill>
            </a:endParaRPr>
          </a:p>
        </p:txBody>
      </p:sp>
      <p:pic>
        <p:nvPicPr>
          <p:cNvPr id="5" name="image59.png"/>
          <p:cNvPicPr/>
          <p:nvPr/>
        </p:nvPicPr>
        <p:blipFill>
          <a:blip r:embed="rId2"/>
          <a:srcRect/>
          <a:stretch>
            <a:fillRect/>
          </a:stretch>
        </p:blipFill>
        <p:spPr>
          <a:xfrm>
            <a:off x="553791" y="5740992"/>
            <a:ext cx="3191264" cy="1042975"/>
          </a:xfrm>
          <a:prstGeom prst="rect">
            <a:avLst/>
          </a:prstGeom>
          <a:ln/>
        </p:spPr>
      </p:pic>
      <p:sp>
        <p:nvSpPr>
          <p:cNvPr id="6" name="CuadroTexto 5"/>
          <p:cNvSpPr txBox="1"/>
          <p:nvPr/>
        </p:nvSpPr>
        <p:spPr>
          <a:xfrm>
            <a:off x="717227" y="597658"/>
            <a:ext cx="9746673" cy="5909310"/>
          </a:xfrm>
          <a:prstGeom prst="rect">
            <a:avLst/>
          </a:prstGeom>
          <a:noFill/>
        </p:spPr>
        <p:txBody>
          <a:bodyPr wrap="square" rtlCol="0">
            <a:spAutoFit/>
          </a:bodyPr>
          <a:lstStyle/>
          <a:p>
            <a:r>
              <a:rPr lang="es-PE" b="1" dirty="0" smtClean="0">
                <a:solidFill>
                  <a:srgbClr val="FF0000"/>
                </a:solidFill>
              </a:rPr>
              <a:t>Ejemplo:</a:t>
            </a:r>
          </a:p>
          <a:p>
            <a:endParaRPr lang="es-PE" b="1" dirty="0"/>
          </a:p>
          <a:p>
            <a:r>
              <a:rPr lang="es-PE" dirty="0"/>
              <a:t>	Se requiere un Software que permita calcular la nota final de un alumno e indicar si este aprueba o no el curso. Los datos a ingresar deben ser el Nombre del curso, Nombre del Alumno, Nota Práctica 1 y 2, Nota de Participación activa y Evaluación final. Cada nota obtenida tendrá un peso específico en relación al puntaje final, según se detalla a continuación:</a:t>
            </a:r>
          </a:p>
          <a:p>
            <a:r>
              <a:rPr lang="es-PE" dirty="0"/>
              <a:t>	</a:t>
            </a:r>
          </a:p>
          <a:p>
            <a:r>
              <a:rPr lang="es-PE" dirty="0"/>
              <a:t>	Practica1: 20%</a:t>
            </a:r>
          </a:p>
          <a:p>
            <a:r>
              <a:rPr lang="es-PE" dirty="0"/>
              <a:t>	Practica1: 25%</a:t>
            </a:r>
          </a:p>
          <a:p>
            <a:r>
              <a:rPr lang="es-PE" dirty="0"/>
              <a:t>	Participación activa: 25%</a:t>
            </a:r>
          </a:p>
          <a:p>
            <a:r>
              <a:rPr lang="es-PE" dirty="0"/>
              <a:t>	Evaluación final: 30%</a:t>
            </a:r>
          </a:p>
          <a:p>
            <a:r>
              <a:rPr lang="es-PE" dirty="0"/>
              <a:t>	</a:t>
            </a:r>
          </a:p>
          <a:p>
            <a:r>
              <a:rPr lang="es-PE" dirty="0" smtClean="0"/>
              <a:t>Paquete </a:t>
            </a:r>
            <a:r>
              <a:rPr lang="es-PE" dirty="0"/>
              <a:t>fuente: Promedio</a:t>
            </a:r>
          </a:p>
          <a:p>
            <a:r>
              <a:rPr lang="es-PE" dirty="0"/>
              <a:t>	Clase </a:t>
            </a:r>
            <a:r>
              <a:rPr lang="es-PE" dirty="0" err="1"/>
              <a:t>Model</a:t>
            </a:r>
            <a:r>
              <a:rPr lang="es-PE" dirty="0"/>
              <a:t> y </a:t>
            </a:r>
            <a:r>
              <a:rPr lang="es-PE" dirty="0" err="1"/>
              <a:t>Service</a:t>
            </a:r>
            <a:r>
              <a:rPr lang="es-PE" dirty="0"/>
              <a:t>: </a:t>
            </a:r>
            <a:r>
              <a:rPr lang="es-PE" dirty="0" smtClean="0"/>
              <a:t>Alumno</a:t>
            </a:r>
          </a:p>
          <a:p>
            <a:endParaRPr lang="es-PE" b="1" dirty="0" smtClean="0"/>
          </a:p>
          <a:p>
            <a:r>
              <a:rPr lang="es-PE" b="1" dirty="0" smtClean="0"/>
              <a:t>Paquete </a:t>
            </a:r>
            <a:r>
              <a:rPr lang="es-PE" b="1" dirty="0"/>
              <a:t>prueba: </a:t>
            </a:r>
            <a:r>
              <a:rPr lang="es-PE" b="1" dirty="0" err="1"/>
              <a:t>TestPromedio</a:t>
            </a:r>
            <a:endParaRPr lang="es-PE" dirty="0"/>
          </a:p>
          <a:p>
            <a:r>
              <a:rPr lang="es-PE" dirty="0" smtClean="0"/>
              <a:t>Clase </a:t>
            </a:r>
            <a:r>
              <a:rPr lang="es-PE" dirty="0"/>
              <a:t>@test: </a:t>
            </a:r>
            <a:r>
              <a:rPr lang="es-PE" dirty="0" err="1"/>
              <a:t>AlumnoTest</a:t>
            </a:r>
            <a:endParaRPr lang="es-PE" dirty="0"/>
          </a:p>
          <a:p>
            <a:endParaRPr lang="es-PE" dirty="0"/>
          </a:p>
          <a:p>
            <a:endParaRPr lang="es-PE" dirty="0"/>
          </a:p>
          <a:p>
            <a:r>
              <a:rPr lang="es-PE" dirty="0" smtClean="0"/>
              <a:t> </a:t>
            </a:r>
            <a:endParaRPr lang="es-PE" dirty="0"/>
          </a:p>
        </p:txBody>
      </p:sp>
    </p:spTree>
    <p:extLst>
      <p:ext uri="{BB962C8B-B14F-4D97-AF65-F5344CB8AC3E}">
        <p14:creationId xmlns:p14="http://schemas.microsoft.com/office/powerpoint/2010/main" val="31715859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269804" y="918693"/>
            <a:ext cx="3044660" cy="755561"/>
          </a:xfrm>
        </p:spPr>
        <p:txBody>
          <a:bodyPr vert="horz" lIns="91440" tIns="45720" rIns="91440" bIns="45720" rtlCol="0" anchor="t">
            <a:normAutofit/>
          </a:bodyPr>
          <a:lstStyle/>
          <a:p>
            <a:r>
              <a:rPr lang="es-PE" sz="3200" b="1" dirty="0">
                <a:solidFill>
                  <a:srgbClr val="C00000"/>
                </a:solidFill>
              </a:rPr>
              <a:t>Conclusiones</a:t>
            </a:r>
          </a:p>
        </p:txBody>
      </p:sp>
      <p:pic>
        <p:nvPicPr>
          <p:cNvPr id="6" name="image59.png"/>
          <p:cNvPicPr/>
          <p:nvPr/>
        </p:nvPicPr>
        <p:blipFill>
          <a:blip r:embed="rId2"/>
          <a:srcRect/>
          <a:stretch>
            <a:fillRect/>
          </a:stretch>
        </p:blipFill>
        <p:spPr>
          <a:xfrm>
            <a:off x="0" y="148320"/>
            <a:ext cx="3191264" cy="1042975"/>
          </a:xfrm>
          <a:prstGeom prst="rect">
            <a:avLst/>
          </a:prstGeom>
          <a:ln/>
        </p:spPr>
      </p:pic>
      <p:sp>
        <p:nvSpPr>
          <p:cNvPr id="3" name="Rectángulo 2"/>
          <p:cNvSpPr/>
          <p:nvPr/>
        </p:nvSpPr>
        <p:spPr>
          <a:xfrm>
            <a:off x="676634" y="1917558"/>
            <a:ext cx="10321923" cy="3693319"/>
          </a:xfrm>
          <a:prstGeom prst="rect">
            <a:avLst/>
          </a:prstGeom>
        </p:spPr>
        <p:txBody>
          <a:bodyPr wrap="square">
            <a:spAutoFit/>
          </a:bodyPr>
          <a:lstStyle/>
          <a:p>
            <a:r>
              <a:rPr lang="es-ES" dirty="0"/>
              <a:t>Al desarrollar un nuevo </a:t>
            </a:r>
            <a:r>
              <a:rPr lang="es-ES" dirty="0" smtClean="0"/>
              <a:t>software, </a:t>
            </a:r>
            <a:r>
              <a:rPr lang="es-ES" dirty="0"/>
              <a:t>la primera etapa </a:t>
            </a:r>
            <a:r>
              <a:rPr lang="es-ES" dirty="0" smtClean="0"/>
              <a:t>a </a:t>
            </a:r>
            <a:r>
              <a:rPr lang="es-ES" dirty="0"/>
              <a:t>considerar es la etapa de pruebas unitarias. </a:t>
            </a:r>
            <a:endParaRPr lang="es-ES" dirty="0" smtClean="0"/>
          </a:p>
          <a:p>
            <a:endParaRPr lang="es-ES" dirty="0"/>
          </a:p>
          <a:p>
            <a:r>
              <a:rPr lang="es-ES" dirty="0" smtClean="0"/>
              <a:t>Podemos </a:t>
            </a:r>
            <a:r>
              <a:rPr lang="es-ES" dirty="0"/>
              <a:t>destacar que las pruebas unitarias son una forma de probar el correcto funcionamiento de un módulo de </a:t>
            </a:r>
            <a:r>
              <a:rPr lang="es-ES" dirty="0" smtClean="0"/>
              <a:t>código. Esto </a:t>
            </a:r>
            <a:r>
              <a:rPr lang="es-ES" dirty="0"/>
              <a:t>sirve para asegurar que cada uno de los módulos funcione correctamente por separado.</a:t>
            </a:r>
            <a:endParaRPr lang="es-PE" dirty="0"/>
          </a:p>
          <a:p>
            <a:endParaRPr lang="es-ES" dirty="0" smtClean="0"/>
          </a:p>
          <a:p>
            <a:r>
              <a:rPr lang="es-ES" dirty="0"/>
              <a:t> </a:t>
            </a:r>
            <a:r>
              <a:rPr lang="es-ES" dirty="0" smtClean="0"/>
              <a:t>El </a:t>
            </a:r>
            <a:r>
              <a:rPr lang="es-ES" dirty="0"/>
              <a:t>objetivo </a:t>
            </a:r>
            <a:r>
              <a:rPr lang="es-ES" dirty="0" smtClean="0"/>
              <a:t>es </a:t>
            </a:r>
            <a:r>
              <a:rPr lang="es-ES" dirty="0"/>
              <a:t>asegurar el correcto funcionamiento de las interfaces, o flujo de datos entre componentes de manera tal que a la hora de realizar una unificación de los diferentes componentes que conforman el sistema en general, exista una congruencia que favorezca el desarrollo de la aplicación que se quiere realizar</a:t>
            </a:r>
            <a:r>
              <a:rPr lang="es-ES" dirty="0" smtClean="0"/>
              <a:t>.</a:t>
            </a:r>
          </a:p>
          <a:p>
            <a:endParaRPr lang="es-ES" dirty="0" smtClean="0"/>
          </a:p>
          <a:p>
            <a:endParaRPr lang="es-ES" dirty="0"/>
          </a:p>
          <a:p>
            <a:endParaRPr lang="es-PE" dirty="0"/>
          </a:p>
        </p:txBody>
      </p:sp>
    </p:spTree>
    <p:extLst>
      <p:ext uri="{BB962C8B-B14F-4D97-AF65-F5344CB8AC3E}">
        <p14:creationId xmlns:p14="http://schemas.microsoft.com/office/powerpoint/2010/main" val="1962596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031087" y="772732"/>
            <a:ext cx="2641382" cy="784180"/>
          </a:xfrm>
        </p:spPr>
        <p:txBody>
          <a:bodyPr/>
          <a:lstStyle/>
          <a:p>
            <a:r>
              <a:rPr lang="es-PE" sz="3200" b="1" dirty="0">
                <a:solidFill>
                  <a:srgbClr val="C00000"/>
                </a:solidFill>
              </a:rPr>
              <a:t>Referencia</a:t>
            </a:r>
          </a:p>
        </p:txBody>
      </p:sp>
      <p:pic>
        <p:nvPicPr>
          <p:cNvPr id="5" name="image59.png"/>
          <p:cNvPicPr/>
          <p:nvPr/>
        </p:nvPicPr>
        <p:blipFill>
          <a:blip r:embed="rId2"/>
          <a:srcRect/>
          <a:stretch>
            <a:fillRect/>
          </a:stretch>
        </p:blipFill>
        <p:spPr>
          <a:xfrm>
            <a:off x="3327550" y="4998262"/>
            <a:ext cx="3191264" cy="1042975"/>
          </a:xfrm>
          <a:prstGeom prst="rect">
            <a:avLst/>
          </a:prstGeom>
          <a:ln/>
        </p:spPr>
      </p:pic>
      <p:sp>
        <p:nvSpPr>
          <p:cNvPr id="3" name="Rectángulo 2"/>
          <p:cNvSpPr/>
          <p:nvPr/>
        </p:nvSpPr>
        <p:spPr>
          <a:xfrm>
            <a:off x="1968844" y="2265764"/>
            <a:ext cx="6096000" cy="3139321"/>
          </a:xfrm>
          <a:prstGeom prst="rect">
            <a:avLst/>
          </a:prstGeom>
        </p:spPr>
        <p:txBody>
          <a:bodyPr>
            <a:spAutoFit/>
          </a:bodyPr>
          <a:lstStyle/>
          <a:p>
            <a:pPr marL="285750" indent="-285750">
              <a:buFont typeface="Wingdings" panose="05000000000000000000" pitchFamily="2" charset="2"/>
              <a:buChar char="Ø"/>
            </a:pPr>
            <a:r>
              <a:rPr lang="es-PE" dirty="0" smtClean="0">
                <a:solidFill>
                  <a:srgbClr val="3B3835"/>
                </a:solidFill>
                <a:latin typeface="Helvetica Neue"/>
                <a:hlinkClick r:id="rId3"/>
              </a:rPr>
              <a:t>http</a:t>
            </a:r>
            <a:r>
              <a:rPr lang="es-PE" dirty="0">
                <a:solidFill>
                  <a:srgbClr val="3B3835"/>
                </a:solidFill>
                <a:latin typeface="Helvetica Neue"/>
                <a:hlinkClick r:id="rId3"/>
              </a:rPr>
              <a:t>://</a:t>
            </a:r>
            <a:r>
              <a:rPr lang="es-PE" dirty="0" smtClean="0">
                <a:solidFill>
                  <a:srgbClr val="3B3835"/>
                </a:solidFill>
                <a:latin typeface="Helvetica Neue"/>
                <a:hlinkClick r:id="rId3"/>
              </a:rPr>
              <a:t>www.arkaitzgarro.com/html5/capitulo-13.html</a:t>
            </a:r>
            <a:endParaRPr lang="es-PE" dirty="0" smtClean="0">
              <a:solidFill>
                <a:srgbClr val="3B3835"/>
              </a:solidFill>
              <a:latin typeface="Helvetica Neue"/>
            </a:endParaRPr>
          </a:p>
          <a:p>
            <a:endParaRPr lang="es-PE" dirty="0" smtClean="0">
              <a:solidFill>
                <a:srgbClr val="3B3835"/>
              </a:solidFill>
              <a:latin typeface="Helvetica Neue"/>
              <a:hlinkClick r:id="rId4"/>
            </a:endParaRPr>
          </a:p>
          <a:p>
            <a:pPr marL="285750" indent="-285750">
              <a:buFont typeface="Wingdings" panose="05000000000000000000" pitchFamily="2" charset="2"/>
              <a:buChar char="Ø"/>
            </a:pPr>
            <a:r>
              <a:rPr lang="es-PE" dirty="0" smtClean="0">
                <a:solidFill>
                  <a:srgbClr val="3B3835"/>
                </a:solidFill>
                <a:latin typeface="Helvetica Neue"/>
                <a:hlinkClick r:id="rId4"/>
              </a:rPr>
              <a:t>https</a:t>
            </a:r>
            <a:r>
              <a:rPr lang="es-PE" dirty="0">
                <a:solidFill>
                  <a:srgbClr val="3B3835"/>
                </a:solidFill>
                <a:latin typeface="Helvetica Neue"/>
                <a:hlinkClick r:id="rId4"/>
              </a:rPr>
              <a:t>://</a:t>
            </a:r>
            <a:r>
              <a:rPr lang="es-PE" dirty="0" smtClean="0">
                <a:solidFill>
                  <a:srgbClr val="3B3835"/>
                </a:solidFill>
                <a:latin typeface="Helvetica Neue"/>
                <a:hlinkClick r:id="rId4"/>
              </a:rPr>
              <a:t>www.websocket.org</a:t>
            </a:r>
            <a:endParaRPr lang="es-PE" dirty="0">
              <a:solidFill>
                <a:srgbClr val="3B3835"/>
              </a:solidFill>
              <a:latin typeface="Helvetica Neue"/>
            </a:endParaRPr>
          </a:p>
          <a:p>
            <a:endParaRPr lang="es-PE" dirty="0" smtClean="0">
              <a:solidFill>
                <a:srgbClr val="3B3835"/>
              </a:solidFill>
              <a:latin typeface="Helvetica Neue"/>
            </a:endParaRPr>
          </a:p>
          <a:p>
            <a:pPr marL="285750" indent="-285750">
              <a:buFont typeface="Wingdings" panose="05000000000000000000" pitchFamily="2" charset="2"/>
              <a:buChar char="Ø"/>
            </a:pPr>
            <a:r>
              <a:rPr lang="es-PE" dirty="0" smtClean="0">
                <a:solidFill>
                  <a:srgbClr val="3B3835"/>
                </a:solidFill>
                <a:latin typeface="Helvetica Neue"/>
                <a:hlinkClick r:id="rId5"/>
              </a:rPr>
              <a:t>http</a:t>
            </a:r>
            <a:r>
              <a:rPr lang="es-PE" dirty="0">
                <a:solidFill>
                  <a:srgbClr val="3B3835"/>
                </a:solidFill>
                <a:latin typeface="Helvetica Neue"/>
                <a:hlinkClick r:id="rId5"/>
              </a:rPr>
              <a:t>://</a:t>
            </a:r>
            <a:r>
              <a:rPr lang="es-PE" dirty="0" smtClean="0">
                <a:solidFill>
                  <a:srgbClr val="3B3835"/>
                </a:solidFill>
                <a:latin typeface="Helvetica Neue"/>
                <a:hlinkClick r:id="rId5"/>
              </a:rPr>
              <a:t>es.wikipedia.org/wiki/WebSocket</a:t>
            </a:r>
            <a:endParaRPr lang="es-PE" dirty="0" smtClean="0">
              <a:solidFill>
                <a:srgbClr val="3B3835"/>
              </a:solidFill>
              <a:latin typeface="Helvetica Neue"/>
            </a:endParaRPr>
          </a:p>
          <a:p>
            <a:endParaRPr lang="es-PE" dirty="0" smtClean="0">
              <a:solidFill>
                <a:srgbClr val="3B3835"/>
              </a:solidFill>
              <a:latin typeface="Helvetica Neue"/>
            </a:endParaRPr>
          </a:p>
          <a:p>
            <a:pPr marL="285750" indent="-285750">
              <a:buFont typeface="Wingdings" panose="05000000000000000000" pitchFamily="2" charset="2"/>
              <a:buChar char="Ø"/>
            </a:pPr>
            <a:r>
              <a:rPr lang="es-PE" dirty="0">
                <a:solidFill>
                  <a:srgbClr val="3B3835"/>
                </a:solidFill>
                <a:latin typeface="Helvetica Neue"/>
                <a:hlinkClick r:id="rId6"/>
              </a:rPr>
              <a:t>https://</a:t>
            </a:r>
            <a:r>
              <a:rPr lang="es-PE" dirty="0" smtClean="0">
                <a:solidFill>
                  <a:srgbClr val="3B3835"/>
                </a:solidFill>
                <a:latin typeface="Helvetica Neue"/>
                <a:hlinkClick r:id="rId6"/>
              </a:rPr>
              <a:t>www.youtube.com/watch?v=SCe5A0lQzlM</a:t>
            </a:r>
            <a:endParaRPr lang="es-PE" dirty="0" smtClean="0">
              <a:solidFill>
                <a:srgbClr val="3B3835"/>
              </a:solidFill>
              <a:latin typeface="Helvetica Neue"/>
            </a:endParaRPr>
          </a:p>
          <a:p>
            <a:pPr marL="285750" indent="-285750">
              <a:buFont typeface="Wingdings" panose="05000000000000000000" pitchFamily="2" charset="2"/>
              <a:buChar char="Ø"/>
            </a:pPr>
            <a:endParaRPr lang="es-PE" dirty="0">
              <a:solidFill>
                <a:srgbClr val="3B3835"/>
              </a:solidFill>
              <a:latin typeface="Helvetica Neue"/>
            </a:endParaRPr>
          </a:p>
          <a:p>
            <a:pPr marL="285750" indent="-285750">
              <a:buFont typeface="Wingdings" panose="05000000000000000000" pitchFamily="2" charset="2"/>
              <a:buChar char="Ø"/>
            </a:pPr>
            <a:r>
              <a:rPr lang="es-PE" dirty="0">
                <a:solidFill>
                  <a:srgbClr val="3B3835"/>
                </a:solidFill>
                <a:latin typeface="Helvetica Neue"/>
                <a:hlinkClick r:id="rId7"/>
              </a:rPr>
              <a:t>https://</a:t>
            </a:r>
            <a:r>
              <a:rPr lang="es-PE" dirty="0" smtClean="0">
                <a:solidFill>
                  <a:srgbClr val="3B3835"/>
                </a:solidFill>
                <a:latin typeface="Helvetica Neue"/>
                <a:hlinkClick r:id="rId7"/>
              </a:rPr>
              <a:t>www.youtube.com/watch?v=GhuyqjWPjGk</a:t>
            </a:r>
            <a:endParaRPr lang="es-PE" dirty="0" smtClean="0">
              <a:solidFill>
                <a:srgbClr val="3B3835"/>
              </a:solidFill>
              <a:latin typeface="Helvetica Neue"/>
            </a:endParaRPr>
          </a:p>
          <a:p>
            <a:endParaRPr lang="es-PE" dirty="0" smtClean="0">
              <a:solidFill>
                <a:srgbClr val="3B3835"/>
              </a:solidFill>
              <a:latin typeface="Helvetica Neue"/>
            </a:endParaRPr>
          </a:p>
          <a:p>
            <a:endParaRPr lang="es-PE" dirty="0">
              <a:solidFill>
                <a:srgbClr val="3B3835"/>
              </a:solidFill>
              <a:latin typeface="Helvetica Neue"/>
            </a:endParaRPr>
          </a:p>
        </p:txBody>
      </p:sp>
    </p:spTree>
    <p:extLst>
      <p:ext uri="{BB962C8B-B14F-4D97-AF65-F5344CB8AC3E}">
        <p14:creationId xmlns:p14="http://schemas.microsoft.com/office/powerpoint/2010/main" val="2832221388"/>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2461</TotalTime>
  <Words>1102</Words>
  <Application>Microsoft Office PowerPoint</Application>
  <PresentationFormat>Panorámica</PresentationFormat>
  <Paragraphs>209</Paragraphs>
  <Slides>24</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24</vt:i4>
      </vt:variant>
    </vt:vector>
  </HeadingPairs>
  <TitlesOfParts>
    <vt:vector size="31" baseType="lpstr">
      <vt:lpstr>Arial</vt:lpstr>
      <vt:lpstr>Geneva</vt:lpstr>
      <vt:lpstr>Helvetica Neue</vt:lpstr>
      <vt:lpstr>Trebuchet MS</vt:lpstr>
      <vt:lpstr>Wingdings</vt:lpstr>
      <vt:lpstr>Wingdings 3</vt:lpstr>
      <vt:lpstr>Faceta</vt:lpstr>
      <vt:lpstr>FACULTAD DE INGENIERIA DE SISTEMAS EMPRESARIALES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Test drive development (TDD)</vt:lpstr>
      <vt:lpstr>Test drive development (TDD)</vt:lpstr>
      <vt:lpstr>Test drive development (TDD)</vt:lpstr>
      <vt:lpstr>Test drive development (TDD)</vt:lpstr>
      <vt:lpstr>Mock objects</vt:lpstr>
      <vt:lpstr>Mock objects</vt:lpstr>
      <vt:lpstr>Caso de Uso</vt:lpstr>
      <vt:lpstr>Caso de Uso</vt:lpstr>
      <vt:lpstr>Caso de Uso</vt:lpstr>
      <vt:lpstr>Caso de Uso</vt:lpstr>
      <vt:lpstr>Conclusiones</vt:lpstr>
      <vt:lpstr>Referencia</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Alumno</dc:creator>
  <cp:lastModifiedBy>Administrador</cp:lastModifiedBy>
  <cp:revision>68</cp:revision>
  <dcterms:created xsi:type="dcterms:W3CDTF">2016-08-10T02:24:07Z</dcterms:created>
  <dcterms:modified xsi:type="dcterms:W3CDTF">2017-02-23T00:18:13Z</dcterms:modified>
</cp:coreProperties>
</file>